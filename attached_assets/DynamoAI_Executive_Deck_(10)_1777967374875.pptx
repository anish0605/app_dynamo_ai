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Microfinance in Sub-Saharan Africa: Impact and Evolution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Dynamo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Summary: The Microfinance Paradox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200"/>
            </a:pPr>
            <a:r>
              <a:t>Microfinance remains a primary tool for poverty alleviation, transitioning from basic credit to holistic 'Credit Plus' models.</a:t>
            </a:r>
          </a:p>
          <a:p>
            <a:pPr lvl="1">
              <a:defRPr sz="2200"/>
            </a:pPr>
            <a:r>
              <a:t>Discourse is currently polarized between optimistic empowerment projections and risks of systemic over-indebtedness.</a:t>
            </a:r>
          </a:p>
          <a:p>
            <a:pPr lvl="1">
              <a:defRPr sz="2200"/>
            </a:pPr>
            <a:r>
              <a:t>Strategic focus must shift from pure credit provision to integrated social intermediation for structural poverty reduction.</a:t>
            </a:r>
          </a:p>
          <a:p>
            <a:pPr lvl="1">
              <a:defRPr sz="2200"/>
            </a:pPr>
            <a:r>
              <a:t>Long-term success requires balancing institutional sustainability with rigorous consumer protection frameworks.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Shifting Landscape: Traditional to Digital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200"/>
            </a:pPr>
            <a:r>
              <a:t>Traditional brick-and-mortar group lending models are being rapidly replaced by algorithmic mobile credit.</a:t>
            </a:r>
          </a:p>
          <a:p>
            <a:pPr lvl="1">
              <a:defRPr sz="2200"/>
            </a:pPr>
            <a:r>
              <a:t>Digital transformation, driven by platforms like M-Pesa, has significantly increased reach but introduced new volatility.</a:t>
            </a:r>
          </a:p>
          <a:p>
            <a:pPr lvl="1">
              <a:defRPr sz="2200"/>
            </a:pPr>
            <a:r>
              <a:t>The sector faces high operational costs and complex regulatory environments across diverse socio-cultural markets.</a:t>
            </a:r>
          </a:p>
          <a:p>
            <a:pPr lvl="1">
              <a:defRPr sz="2200"/>
            </a:pPr>
            <a:r>
              <a:t>Mobile money has fundamentally altered the mechanism of financial inclusion, moving from human-led to tech-enabled delivery.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Research Gaps and Risk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200"/>
            </a:pPr>
            <a:r>
              <a:t>Existing literature often displays 'success-bias' by prioritizing high repayment rates over long-term household welfare.</a:t>
            </a:r>
          </a:p>
          <a:p>
            <a:pPr lvl="1">
              <a:defRPr sz="2200"/>
            </a:pPr>
            <a:r>
              <a:t>Current studies lack clarity on the 'saturation threshold' where credit transitions from productive to destabilizing.</a:t>
            </a:r>
          </a:p>
          <a:p>
            <a:pPr lvl="1">
              <a:defRPr sz="2200"/>
            </a:pPr>
            <a:r>
              <a:t>Rapid FinTech integration poses risks of exploitative lending structures due to lack of comprehensive oversight.</a:t>
            </a:r>
          </a:p>
          <a:p>
            <a:pPr lvl="1">
              <a:defRPr sz="2200"/>
            </a:pPr>
            <a:r>
              <a:t>There is a disconnect between donor-dependent traditional models and modern, data-driven lending capabilities.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Imperatives for Future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200"/>
            </a:pPr>
            <a:r>
              <a:t>Prioritize the adoption of holistic, context-specific support systems over simple credit-led interventions.</a:t>
            </a:r>
          </a:p>
          <a:p>
            <a:pPr lvl="1">
              <a:defRPr sz="2200"/>
            </a:pPr>
            <a:r>
              <a:t>Implement robust consumer protection frameworks to mitigate the cycle of household debt.</a:t>
            </a:r>
          </a:p>
          <a:p>
            <a:pPr lvl="1">
              <a:defRPr sz="2200"/>
            </a:pPr>
            <a:r>
              <a:t>Leverage digital transformation to improve financial reach while ensuring algorithmic accountability.</a:t>
            </a:r>
          </a:p>
          <a:p>
            <a:pPr lvl="1">
              <a:defRPr sz="2200"/>
            </a:pPr>
            <a:r>
              <a:t>Measure success through structural poverty reduction metrics rather than immediate financial performance indicators.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