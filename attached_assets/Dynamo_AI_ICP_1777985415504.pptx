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14CEC5-D621-4874-902C-A4727CDEF23A}">
  <a:tblStyle styleId="{0114CEC5-D621-4874-902C-A4727CDEF2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6e53bcb0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6e53bcb0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6f0de81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6f0de81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6f0de81e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6f0de81e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855bdf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7855bdf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7855bdf1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7855bdf1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43250"/>
            <a:ext cx="8520600" cy="59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Dynamo AI: A Continuous Learning System for Students</a:t>
            </a:r>
            <a:endParaRPr b="1" sz="2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900275"/>
            <a:ext cx="3496200" cy="1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Current Learning Reality: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Learning resets every session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Understanding is fragmented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Study tools are scattered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190000" y="900275"/>
            <a:ext cx="4642500" cy="13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Dynamo AI Approach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Continuity</a:t>
            </a:r>
            <a:r>
              <a:rPr lang="en" sz="1600">
                <a:solidFill>
                  <a:schemeClr val="dk1"/>
                </a:solidFill>
              </a:rPr>
              <a:t> → remembers past learning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Structure</a:t>
            </a:r>
            <a:r>
              <a:rPr lang="en" sz="1600">
                <a:solidFill>
                  <a:schemeClr val="dk1"/>
                </a:solidFill>
              </a:rPr>
              <a:t> → connects concepts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Focus</a:t>
            </a:r>
            <a:r>
              <a:rPr lang="en" sz="1600">
                <a:solidFill>
                  <a:schemeClr val="dk1"/>
                </a:solidFill>
              </a:rPr>
              <a:t> → one system for learing + revision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750800" y="2408875"/>
            <a:ext cx="7451400" cy="537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Students don’t need more answers. They need continuity in learning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58" name="Google Shape;58;p13"/>
          <p:cNvGraphicFramePr/>
          <p:nvPr/>
        </p:nvGraphicFramePr>
        <p:xfrm>
          <a:off x="857000" y="313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{0114CEC5-D621-4874-902C-A4727CDEF23A}</a:tableStyleId>
              </a:tblPr>
              <a:tblGrid>
                <a:gridCol w="3619500"/>
                <a:gridCol w="3619500"/>
              </a:tblGrid>
              <a:tr h="420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Traditional AI (ChatGPT)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Dynamo AI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0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Session-based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Continuous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Answer-focused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Learning-focused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memory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Persistent memory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43250"/>
            <a:ext cx="8520600" cy="59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Last-Minute Student Scenario</a:t>
            </a:r>
            <a:r>
              <a:rPr b="1" lang="en" sz="2200"/>
              <a:t> </a:t>
            </a:r>
            <a:endParaRPr b="1" sz="2200"/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900275"/>
            <a:ext cx="4570800" cy="18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Before (Current Experience)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It’s 10 PM. Exam tomorrow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Notes are incomplete / unclear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Jumps between ChatGPT, YouTube, PDFs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Repeats questions, loses context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Ends up confused and stressed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5121125" y="900275"/>
            <a:ext cx="3782700" cy="19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Dynamo AI Approach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Uploads notes once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Gets clear explanations instantly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Continues from previous learning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Practices with quick quizzes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Gains clarity in minutes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122100" y="2929600"/>
            <a:ext cx="7102800" cy="537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From confusion → clarity in minutes, without restarting learning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67" name="Google Shape;67;p14"/>
          <p:cNvGraphicFramePr/>
          <p:nvPr/>
        </p:nvGraphicFramePr>
        <p:xfrm>
          <a:off x="393850" y="386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{0114CEC5-D621-4874-902C-A4727CDEF23A}</a:tableStyleId>
              </a:tblPr>
              <a:tblGrid>
                <a:gridCol w="3304675"/>
                <a:gridCol w="5133775"/>
              </a:tblGrid>
              <a:tr h="58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Study Flow with Dynamo AI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Notes → Upload → Explain → Quiz → Revise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11700" y="132500"/>
            <a:ext cx="8520600" cy="59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Dynamo AI: A Research Operating System for PhD Scholars</a:t>
            </a:r>
            <a:endParaRPr b="1" sz="2200"/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311700" y="861965"/>
            <a:ext cx="39438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Current Research Workflow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Fragmented across multiple tools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 persistence of research context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Manual cross-paper synthesis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4036383" y="850430"/>
            <a:ext cx="50283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Dy</a:t>
            </a:r>
            <a:r>
              <a:rPr b="1" lang="en" sz="1800">
                <a:solidFill>
                  <a:schemeClr val="dk1"/>
                </a:solidFill>
              </a:rPr>
              <a:t>namo AI Approach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Continuity</a:t>
            </a:r>
            <a:r>
              <a:rPr lang="en" sz="1600">
                <a:solidFill>
                  <a:schemeClr val="dk1"/>
                </a:solidFill>
              </a:rPr>
              <a:t> → persistent research context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Validation</a:t>
            </a:r>
            <a:r>
              <a:rPr lang="en" sz="1600">
                <a:solidFill>
                  <a:schemeClr val="dk1"/>
                </a:solidFill>
              </a:rPr>
              <a:t> → literature-backed insights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Synthesis</a:t>
            </a:r>
            <a:r>
              <a:rPr lang="en" sz="1600">
                <a:solidFill>
                  <a:schemeClr val="dk1"/>
                </a:solidFill>
              </a:rPr>
              <a:t> → cross-paper knowledge integration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61550" y="2242310"/>
            <a:ext cx="8220900" cy="537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Research is not just generation. It requires continuity, validation, and synthesis.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76" name="Google Shape;76;p15"/>
          <p:cNvGraphicFramePr/>
          <p:nvPr/>
        </p:nvGraphicFramePr>
        <p:xfrm>
          <a:off x="461550" y="30676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{0114CEC5-D621-4874-902C-A4727CDEF23A}</a:tableStyleId>
              </a:tblPr>
              <a:tblGrid>
                <a:gridCol w="2055225"/>
                <a:gridCol w="2135950"/>
                <a:gridCol w="1974500"/>
                <a:gridCol w="205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Traditional AI </a:t>
                      </a:r>
                      <a:r>
                        <a:rPr lang="en"/>
                        <a:t>(ChatGPT)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Tools </a:t>
                      </a:r>
                      <a:r>
                        <a:rPr lang="en"/>
                        <a:t>(Elicit)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Dynamo AI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Context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Validation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Weak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Strong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Strong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Synthesis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311700" y="143250"/>
            <a:ext cx="8520600" cy="59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PhD Research Workflow Scenario</a:t>
            </a:r>
            <a:r>
              <a:rPr b="1" lang="en" sz="2200"/>
              <a:t> </a:t>
            </a:r>
            <a:endParaRPr b="1" sz="2200"/>
          </a:p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311700" y="900275"/>
            <a:ext cx="4570800" cy="18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Before (Current Experience)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Switches between AI + Google Scholar + PDFs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Manually connects multiple papers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Loses context across sessions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Struggles with validation and traceability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Output remains fragmented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5121125" y="900275"/>
            <a:ext cx="3782700" cy="19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Dynamo AI Approach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</a:t>
            </a:r>
            <a:r>
              <a:rPr lang="en" sz="1600">
                <a:solidFill>
                  <a:schemeClr val="dk1"/>
                </a:solidFill>
              </a:rPr>
              <a:t>nputs research topic once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Gets literature-backed insights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Synthesizes across multiple papers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Maintains context across sessions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Generates structured drafts with citations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122100" y="2929600"/>
            <a:ext cx="7102800" cy="537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From fragmented exploration → structured, validated research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85" name="Google Shape;85;p16"/>
          <p:cNvGraphicFramePr/>
          <p:nvPr/>
        </p:nvGraphicFramePr>
        <p:xfrm>
          <a:off x="311700" y="386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{0114CEC5-D621-4874-902C-A4727CDEF23A}</a:tableStyleId>
              </a:tblPr>
              <a:tblGrid>
                <a:gridCol w="3590700"/>
                <a:gridCol w="5055325"/>
              </a:tblGrid>
              <a:tr h="58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Research Flow with Dynamo AI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Topic → Explore → Validate → Synthesize → Write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ctrTitle"/>
          </p:nvPr>
        </p:nvSpPr>
        <p:spPr>
          <a:xfrm>
            <a:off x="311700" y="132500"/>
            <a:ext cx="8520600" cy="59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Dynamo AI: An Academic Workflow System for Professors</a:t>
            </a:r>
            <a:endParaRPr b="1" sz="2200"/>
          </a:p>
        </p:txBody>
      </p: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311700" y="861976"/>
            <a:ext cx="3943800" cy="15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Current </a:t>
            </a:r>
            <a:r>
              <a:rPr b="1" lang="en" sz="1800">
                <a:solidFill>
                  <a:schemeClr val="dk1"/>
                </a:solidFill>
              </a:rPr>
              <a:t>Teaching</a:t>
            </a:r>
            <a:r>
              <a:rPr b="1" lang="en" sz="1800">
                <a:solidFill>
                  <a:schemeClr val="dk1"/>
                </a:solidFill>
              </a:rPr>
              <a:t> Workflow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Time-consuming lecture &amp; slide preparation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Academic materials scattered across sources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Difficulty staying updated with latest knowledge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" name="Google Shape;92;p17"/>
          <p:cNvSpPr txBox="1"/>
          <p:nvPr>
            <p:ph idx="1" type="subTitle"/>
          </p:nvPr>
        </p:nvSpPr>
        <p:spPr>
          <a:xfrm>
            <a:off x="4420500" y="861975"/>
            <a:ext cx="4411800" cy="15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Dynamo AI Approach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Continuity → </a:t>
            </a:r>
            <a:r>
              <a:rPr lang="en" sz="1600">
                <a:solidFill>
                  <a:schemeClr val="dk1"/>
                </a:solidFill>
              </a:rPr>
              <a:t>remembers teaching context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Organization → </a:t>
            </a:r>
            <a:r>
              <a:rPr lang="en" sz="1600">
                <a:solidFill>
                  <a:schemeClr val="dk1"/>
                </a:solidFill>
              </a:rPr>
              <a:t>centralizes academic materials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Efficiency → </a:t>
            </a:r>
            <a:r>
              <a:rPr lang="en" sz="1600">
                <a:solidFill>
                  <a:schemeClr val="dk1"/>
                </a:solidFill>
              </a:rPr>
              <a:t>converts notes into structured lectures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461550" y="2571760"/>
            <a:ext cx="8220900" cy="537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Teaching is not just preparation</a:t>
            </a:r>
            <a:r>
              <a:rPr lang="en" sz="1800">
                <a:solidFill>
                  <a:schemeClr val="dk1"/>
                </a:solidFill>
              </a:rPr>
              <a:t>. </a:t>
            </a:r>
            <a:r>
              <a:rPr lang="en" sz="1800">
                <a:solidFill>
                  <a:schemeClr val="dk1"/>
                </a:solidFill>
              </a:rPr>
              <a:t>It requires continuity, organization, and clarity.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94" name="Google Shape;94;p17"/>
          <p:cNvGraphicFramePr/>
          <p:nvPr/>
        </p:nvGraphicFramePr>
        <p:xfrm>
          <a:off x="461550" y="33213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{0114CEC5-D621-4874-902C-A4727CDEF23A}</a:tableStyleId>
              </a:tblPr>
              <a:tblGrid>
                <a:gridCol w="2055225"/>
                <a:gridCol w="2135950"/>
                <a:gridCol w="1974500"/>
                <a:gridCol w="205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Traditional AI </a:t>
                      </a:r>
                      <a:r>
                        <a:rPr lang="en"/>
                        <a:t>(ChatGPT)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Tools </a:t>
                      </a:r>
                      <a:r>
                        <a:rPr lang="en"/>
                        <a:t>(Elicit)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Dynamo AI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Context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Teaching Support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Workflow Integration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ctrTitle"/>
          </p:nvPr>
        </p:nvSpPr>
        <p:spPr>
          <a:xfrm>
            <a:off x="311700" y="143250"/>
            <a:ext cx="8520600" cy="59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Professor Teaching Workflow Scenario</a:t>
            </a:r>
            <a:endParaRPr b="1" sz="2200"/>
          </a:p>
        </p:txBody>
      </p:sp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311700" y="900275"/>
            <a:ext cx="4570800" cy="18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Before (Current Experience)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Prepares slides manually from multiple sources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Refers to multiple academic sources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Spends hours structuring lectures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Struggles to keep content updated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Teaching flow becomes inconsistent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1" name="Google Shape;101;p18"/>
          <p:cNvSpPr txBox="1"/>
          <p:nvPr>
            <p:ph idx="1" type="subTitle"/>
          </p:nvPr>
        </p:nvSpPr>
        <p:spPr>
          <a:xfrm>
            <a:off x="5121125" y="900275"/>
            <a:ext cx="3782700" cy="19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Dynamo AI Approach</a:t>
            </a:r>
            <a:endParaRPr b="1" sz="18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I</a:t>
            </a:r>
            <a:r>
              <a:rPr lang="en" sz="1600">
                <a:solidFill>
                  <a:schemeClr val="dk1"/>
                </a:solidFill>
              </a:rPr>
              <a:t>nputs topic once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Gets structured lecture content instantly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Converts notes into ready-to-use slides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Maintains continuity across sessions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Delivers clear and consistent lectures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1122100" y="2929600"/>
            <a:ext cx="7102800" cy="537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From manual preparation → structured, efficient teaching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03" name="Google Shape;103;p18"/>
          <p:cNvGraphicFramePr/>
          <p:nvPr/>
        </p:nvGraphicFramePr>
        <p:xfrm>
          <a:off x="311700" y="386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{0114CEC5-D621-4874-902C-A4727CDEF23A}</a:tableStyleId>
              </a:tblPr>
              <a:tblGrid>
                <a:gridCol w="3590700"/>
                <a:gridCol w="5055325"/>
              </a:tblGrid>
              <a:tr h="58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Teaching Flow</a:t>
                      </a:r>
                      <a:r>
                        <a:rPr b="1" lang="en" sz="1800"/>
                        <a:t> with Dynamo AI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Topic → Organize → Generate → Teach → Update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