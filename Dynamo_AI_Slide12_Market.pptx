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3474720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33832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TARGET MARKET · TAM / SAM / SOM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Big market. Sharp entry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Start with the highest-pain users. Expand outward to institutions.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3749039" cy="3749039"/>
          </a:xfrm>
          <a:prstGeom prst="rect">
            <a:avLst/>
          </a:prstGeom>
          <a:solidFill>
            <a:srgbClr val="121728"/>
          </a:solidFill>
          <a:ln w="12700">
            <a:solidFill>
              <a:srgbClr val="3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731520" cy="320040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78608"/>
            <a:ext cx="731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107"/>
                </a:solidFill>
                <a:latin typeface="Calibri"/>
              </a:rPr>
              <a:t>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Total Addressable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34747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All researchers, educators &amp; students using digital tools across India.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AAAABB"/>
                </a:solidFill>
                <a:latin typeface="Calibri"/>
              </a:rPr>
              <a:t>₹2,400 Cr+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49240"/>
            <a:ext cx="34747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estimated annual academic productivity market (India)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377440"/>
            <a:ext cx="3749039" cy="3749039"/>
          </a:xfrm>
          <a:prstGeom prst="rect">
            <a:avLst/>
          </a:prstGeom>
          <a:solidFill>
            <a:srgbClr val="121728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2560320"/>
            <a:ext cx="731520" cy="320040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578608"/>
            <a:ext cx="731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107"/>
                </a:solidFill>
                <a:latin typeface="Calibri"/>
              </a:rPr>
              <a:t>SAM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9718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Serviceable Available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337560"/>
            <a:ext cx="34747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India's 200K+ PhD scholars + 1.5M professors &amp; academic researchers.
(Source: AISHE 2022-23, Ministry of Education, Govt. of India)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43484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1.7M+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349240"/>
            <a:ext cx="34747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active researchers &amp; faculty (India)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377440"/>
            <a:ext cx="3749039" cy="3749039"/>
          </a:xfrm>
          <a:prstGeom prst="rect">
            <a:avLst/>
          </a:prstGeom>
          <a:solidFill>
            <a:srgbClr val="2019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2560320"/>
            <a:ext cx="731520" cy="3200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578608"/>
            <a:ext cx="731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0E1A"/>
                </a:solidFill>
                <a:latin typeface="Calibri"/>
              </a:rPr>
              <a:t>SOM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9718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Serviceable Obtainable 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337560"/>
            <a:ext cx="34747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First wedge: 10,000 paying scholars &amp; researchers in 24 months.
(0.6% penetration of SAM — conservative target)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3484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FC107"/>
                </a:solidFill>
                <a:latin typeface="Calibri"/>
              </a:rPr>
              <a:t>10K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349240"/>
            <a:ext cx="34747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users · ₹4–10 Cr ARR target by Year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336792"/>
            <a:ext cx="111556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AAAABB"/>
                </a:solidFill>
                <a:latin typeface="Calibri"/>
              </a:rPr>
              <a:t>Wedge strategy: dominate PhD scholars first → expand to professors → institutional contracts.  |  SAM source: AISHE 2022-23, Ministry of Education, Govt. of India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601968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601968"/>
            <a:ext cx="31089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7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