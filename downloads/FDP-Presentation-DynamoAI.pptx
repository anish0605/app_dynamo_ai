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FACULTY DEVELOPMENT PROGRAMME · ONE DAY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754880" y="1993392"/>
            <a:ext cx="274320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48840"/>
            <a:ext cx="107259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Research in the AI Era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4754880" y="3310128"/>
            <a:ext cx="274320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42900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4A3E">
                    <a:alpha val="85000"/>
                  </a:srgbClr>
                </a:solidFill>
              </a:rPr>
              <a:t>How faculty can discover, synthesise, and publish research faster using Dynamo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4160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C25"/>
                </a:solidFill>
              </a:rPr>
              <a:t>1 Day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46177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4A3E">
                    <a:alpha val="80000"/>
                  </a:srgbClr>
                </a:solidFill>
              </a:rPr>
              <a:t>Full Programme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4160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C25"/>
                </a:solidFill>
              </a:rPr>
              <a:t>2 Parts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2080" y="46177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4A3E">
                    <a:alpha val="80000"/>
                  </a:srgbClr>
                </a:solidFill>
              </a:rPr>
              <a:t>Theory + Practical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0" y="4160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C25"/>
                </a:solidFill>
              </a:rPr>
              <a:t>6 Labs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23760" y="46177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4A3E">
                    <a:alpha val="80000"/>
                  </a:srgbClr>
                </a:solidFill>
              </a:rPr>
              <a:t>Hands-On Sessions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01 / 29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PROGRAMME STRUCTURE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The Full Day at a Glance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43200"/>
            <a:ext cx="5212080" cy="3520440"/>
          </a:xfrm>
          <a:prstGeom prst="rect">
            <a:avLst/>
          </a:prstGeom>
          <a:solidFill>
            <a:srgbClr val="2D4A3E">
              <a:alpha val="6000"/>
            </a:srgbClr>
          </a:solidFill>
          <a:ln w="6350">
            <a:solidFill>
              <a:srgbClr val="2D4A3E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5292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9A2A"/>
                </a:solidFill>
              </a:rPr>
              <a:t>MORNING · 9:00 AM – 1:00 PM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0906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25"/>
                </a:solidFill>
              </a:rPr>
              <a:t>Theory Block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45643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70000"/>
                  </a:srgbClr>
                </a:solidFill>
              </a:rPr>
              <a:t>09:00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72768" y="34564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Opening &amp; Ice-Breaker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00507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70000"/>
                  </a:srgbClr>
                </a:solidFill>
              </a:rPr>
              <a:t>09:30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72768" y="4005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The Research Crisis — Pain Points &amp;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5537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70000"/>
                  </a:srgbClr>
                </a:solidFill>
              </a:rPr>
              <a:t>10:30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72768" y="45537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Research Workflow Design &amp; Prompt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1023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70000"/>
                  </a:srgbClr>
                </a:solidFill>
              </a:rPr>
              <a:t>11:15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72768" y="51023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Literature Review, Gap Analysis &amp; Methodology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6509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70000"/>
                  </a:srgbClr>
                </a:solidFill>
              </a:rPr>
              <a:t>12:00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72768" y="5650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Writing, Referencing, Ethics &amp; Integrity Tools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2743200"/>
            <a:ext cx="5394960" cy="3520440"/>
          </a:xfrm>
          <a:prstGeom prst="rect">
            <a:avLst/>
          </a:prstGeom>
          <a:solidFill>
            <a:srgbClr val="C49A2A">
              <a:alpha val="6000"/>
            </a:srgbClr>
          </a:solidFill>
          <a:ln w="6350">
            <a:solidFill>
              <a:srgbClr val="C49A2A">
                <a:alpha val="2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8529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9A2A"/>
                </a:solidFill>
              </a:rPr>
              <a:t>AFTERNOON · 2:00 PM – 5:00 PM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0906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25"/>
                </a:solidFill>
              </a:rPr>
              <a:t>Practical Block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345643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70000"/>
                  </a:srgbClr>
                </a:solidFill>
              </a:rPr>
              <a:t>02:00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0608" y="34564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Platform Tour + Account Setup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400507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70000"/>
                  </a:srgbClr>
                </a:solidFill>
              </a:rPr>
              <a:t>02:15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50608" y="400507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Lab 1 — Literature Search &amp; Gap Finding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45537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70000"/>
                  </a:srgbClr>
                </a:solidFill>
              </a:rPr>
              <a:t>03:15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50608" y="455371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Lab 2 — Drafting, Detection, Similarity &amp; Humaniser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51023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70000"/>
                  </a:srgbClr>
                </a:solidFill>
              </a:rPr>
              <a:t>04:00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50608" y="51023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Lab 3 — Document Library &amp; Memory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56509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70000"/>
                  </a:srgbClr>
                </a:solidFill>
              </a:rPr>
              <a:t>04:30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50608" y="565099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Deep Research Agent + Pricing + Q&amp;A + Closing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02 / 29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C49A2A">
                    <a:alpha val="70000"/>
                  </a:srgbClr>
                </a:solidFill>
              </a:rPr>
              <a:t>Part I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5029200" y="2514600"/>
            <a:ext cx="21031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2C25"/>
                </a:solidFill>
              </a:rPr>
              <a:t>Morning Theory Block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0" y="3401568"/>
            <a:ext cx="21031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566160"/>
            <a:ext cx="8531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4A3E">
                    <a:alpha val="85000"/>
                  </a:srgbClr>
                </a:solidFill>
              </a:rPr>
              <a:t>Building the foundation — why traditional research methods are no longer enough,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2D4A3E">
                    <a:alpha val="85000"/>
                  </a:srgbClr>
                </a:solidFill>
              </a:rPr>
              <a:t>and what the AI era demands of modern faculty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03 / 29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1 · 9:30 AM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The Research Crisis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88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49A2A"/>
                </a:solidFill>
              </a:rPr>
              <a:t>01.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27889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50M+ papers on Google Scholar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311810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Manual literature review is practically impossible at this volume.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49A2A"/>
                </a:solidFill>
              </a:rPr>
              <a:t>02.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3840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3 biggest time-wasters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416966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Literature search · Synthesis · Citation verification — AI removes all three.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892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49A2A"/>
                </a:solidFill>
              </a:rPr>
              <a:t>03.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48920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Most faculty use AI wrong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522122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Using ChatGPT for paraphrasing only — that's a scooter on a highway.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2743200"/>
            <a:ext cx="0" cy="3429000"/>
          </a:xfrm>
          <a:prstGeom prst="line">
            <a:avLst/>
          </a:prstGeom>
          <a:noFill/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78892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ASK THE ROOM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30632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2C25"/>
                </a:solidFill>
              </a:rPr>
              <a:t>"How many hours does one literature review take you today?"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80760" y="4160520"/>
            <a:ext cx="5394960" cy="685800"/>
          </a:xfrm>
          <a:prstGeom prst="rect">
            <a:avLst/>
          </a:prstGeom>
          <a:solidFill>
            <a:srgbClr val="2D4A3E">
              <a:alpha val="7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42336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/>
                </a:solidFill>
              </a:rPr>
              <a:t>By 5 PM today, you will do in 10 minutes what used to take 3 days.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04 / 29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1 · THE INSTITUTIONAL PRESSURE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The NAAC &amp; UGC Reality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880360"/>
            <a:ext cx="109728" cy="109728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Scopus / WoS indexed papers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09981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High weight in API calculation — most colleges are far below target.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703320"/>
            <a:ext cx="109728" cy="109728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h-Index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92277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Hard to build without a consistent publishing cadence.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526280"/>
            <a:ext cx="109728" cy="109728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NAAC Grade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74573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Grade A/A+ demands visible publication records.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5349240"/>
            <a:ext cx="109728" cy="109728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UGC CARE List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56869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Only CARE-listed journals count toward it.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66560" y="2743200"/>
            <a:ext cx="4754880" cy="3429000"/>
          </a:xfrm>
          <a:prstGeom prst="rect">
            <a:avLst/>
          </a:prstGeom>
          <a:solidFill>
            <a:srgbClr val="C49A2A">
              <a:alpha val="7000"/>
            </a:srgbClr>
          </a:solidFill>
          <a:ln w="19050">
            <a:solidFill>
              <a:srgbClr val="C49A2A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85292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9A2A"/>
                </a:solidFill>
              </a:rPr>
              <a:t>THE OPPORTUNITY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9440" y="310896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2C25"/>
                </a:solidFill>
              </a:rPr>
              <a:t>"AI doesn't replace your research.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A2C25"/>
                </a:solidFill>
              </a:rPr>
              <a:t>It removes the friction that stops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A2C25"/>
                </a:solidFill>
              </a:rPr>
              <a:t>you from doing it."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9440" y="4251960"/>
            <a:ext cx="4389120" cy="0"/>
          </a:xfrm>
          <a:prstGeom prst="line">
            <a:avLst/>
          </a:prstGeom>
          <a:noFill/>
          <a:ln w="6350">
            <a:solidFill>
              <a:srgbClr val="C49A2A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44074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C25"/>
                </a:solidFill>
              </a:rPr>
              <a:t>3–5×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40880" y="4846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A3E">
                    <a:alpha val="75000"/>
                  </a:srgbClr>
                </a:solidFill>
              </a:rPr>
              <a:t>Faster search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44074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C25"/>
                </a:solidFill>
              </a:rPr>
              <a:t>10 min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49640" y="4846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A3E">
                    <a:alpha val="75000"/>
                  </a:srgbClr>
                </a:solidFill>
              </a:rPr>
              <a:t>vs 3-day review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0" y="44074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C25"/>
                </a:solidFill>
              </a:rPr>
              <a:t>2×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58400" y="4846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A3E">
                    <a:alpha val="75000"/>
                  </a:srgbClr>
                </a:solidFill>
              </a:rPr>
              <a:t>More papers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05 / 29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2 · 10:30 AM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Research Workflow Design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43200"/>
            <a:ext cx="2103120" cy="0"/>
          </a:xfrm>
          <a:prstGeom prst="line">
            <a:avLst/>
          </a:prstGeom>
          <a:noFill/>
          <a:ln w="25400">
            <a:solidFill>
              <a:srgbClr val="2D4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529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49A2A"/>
                </a:solidFill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1638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Discover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4930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A3E">
                    <a:alpha val="80000"/>
                  </a:srgbClr>
                </a:solidFill>
              </a:rPr>
              <a:t>Find relevant papers fast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80360" y="2743200"/>
            <a:ext cx="2103120" cy="0"/>
          </a:xfrm>
          <a:prstGeom prst="line">
            <a:avLst/>
          </a:prstGeom>
          <a:noFill/>
          <a:ln w="25400">
            <a:solidFill>
              <a:srgbClr val="2D4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28529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49A2A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31638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Read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80360" y="34930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A3E">
                    <a:alpha val="80000"/>
                  </a:srgbClr>
                </a:solidFill>
              </a:rPr>
              <a:t>Summarise &amp; extract key ideas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66360" y="2743200"/>
            <a:ext cx="2103120" cy="0"/>
          </a:xfrm>
          <a:prstGeom prst="line">
            <a:avLst/>
          </a:prstGeom>
          <a:noFill/>
          <a:ln w="25400">
            <a:solidFill>
              <a:srgbClr val="2D4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8529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49A2A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31638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Synthesise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34930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A3E">
                    <a:alpha val="80000"/>
                  </a:srgbClr>
                </a:solidFill>
              </a:rPr>
              <a:t>Connect themes across papers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52360" y="2743200"/>
            <a:ext cx="2103120" cy="0"/>
          </a:xfrm>
          <a:prstGeom prst="line">
            <a:avLst/>
          </a:prstGeom>
          <a:noFill/>
          <a:ln w="25400">
            <a:solidFill>
              <a:srgbClr val="2D4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28529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49A2A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52360" y="31638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Write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2360" y="34930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A3E">
                    <a:alpha val="80000"/>
                  </a:srgbClr>
                </a:solidFill>
              </a:rPr>
              <a:t>Draft assisted, not replaced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738360" y="2743200"/>
            <a:ext cx="2103120" cy="0"/>
          </a:xfrm>
          <a:prstGeom prst="line">
            <a:avLst/>
          </a:prstGeom>
          <a:noFill/>
          <a:ln w="25400">
            <a:solidFill>
              <a:srgbClr val="2D4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28529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49A2A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38360" y="31638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Verify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38360" y="34930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A3E">
                    <a:alpha val="80000"/>
                  </a:srgbClr>
                </a:solidFill>
              </a:rPr>
              <a:t>AI &amp; plagiarism checks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4251960"/>
            <a:ext cx="5303520" cy="1234440"/>
          </a:xfrm>
          <a:prstGeom prst="rect">
            <a:avLst/>
          </a:prstGeom>
          <a:solidFill>
            <a:srgbClr val="2D4A3E">
              <a:alpha val="5000"/>
            </a:srgbClr>
          </a:solidFill>
          <a:ln w="6350">
            <a:solidFill>
              <a:srgbClr val="2D4A3E">
                <a:alpha val="1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37083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ACADEMIC INTEGRITY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46177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AI supports each stage — but never replaces your scholarly judgement, critical analysis, or original contribution.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63640" y="4251960"/>
            <a:ext cx="5303520" cy="1234440"/>
          </a:xfrm>
          <a:prstGeom prst="rect">
            <a:avLst/>
          </a:prstGeom>
          <a:solidFill>
            <a:srgbClr val="C49A2A">
              <a:alpha val="6000"/>
            </a:srgbClr>
          </a:solidFill>
          <a:ln w="6350">
            <a:solidFill>
              <a:srgbClr val="C49A2A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37083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9A2A"/>
                </a:solidFill>
              </a:rPr>
              <a:t>PROMPT ENGINEERING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46177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Research-grade prompts are specific, scoped, and directive — not open-ended chat queries.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06 / 29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2 · PROMPT ENGINEERING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The Power of One Prompt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43200"/>
            <a:ext cx="5120640" cy="3474720"/>
          </a:xfrm>
          <a:prstGeom prst="rect">
            <a:avLst/>
          </a:prstGeom>
          <a:solidFill>
            <a:srgbClr val="8B2020">
              <a:alpha val="4000"/>
            </a:srgbClr>
          </a:solidFill>
          <a:ln w="6350">
            <a:solidFill>
              <a:srgbClr val="8B2020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803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2020"/>
                </a:solidFill>
              </a:rPr>
              <a:t>WEAK PROMPT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2C25"/>
                </a:solidFill>
              </a:rPr>
              <a:t>"Explain machine learning"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0000"/>
                  </a:srgbClr>
                </a:solidFill>
              </a:rPr>
              <a:t>Generic. Returns textbook content. No research value.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4A3E">
                    <a:alpha val="30000"/>
                  </a:srgbClr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09360" y="2743200"/>
            <a:ext cx="5257800" cy="3474720"/>
          </a:xfrm>
          <a:prstGeom prst="rect">
            <a:avLst/>
          </a:prstGeom>
          <a:solidFill>
            <a:srgbClr val="C49A2A">
              <a:alpha val="6000"/>
            </a:srgbClr>
          </a:solidFill>
          <a:ln w="25400">
            <a:solidFill>
              <a:srgbClr val="C49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88036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9A2A"/>
                </a:solidFill>
              </a:rPr>
              <a:t>RESEARCH-GRADE PROMPT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315468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C25"/>
                </a:solidFill>
              </a:rPr>
              <a:t>"Summarise 3 years of research on federated learning in healthcare, identify gaps, and suggest new angles"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2976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0000"/>
                  </a:srgbClr>
                </a:solidFill>
              </a:rPr>
              <a:t>Scoped. Time-bounded. Action-oriented. Returns publishable insight.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07 / 29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2 · CHOOSING THE RIGHT MODE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Which Mode for Which Task?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88920"/>
            <a:ext cx="0" cy="685800"/>
          </a:xfrm>
          <a:prstGeom prst="line">
            <a:avLst/>
          </a:prstGeom>
          <a:noFill/>
          <a:ln w="38100">
            <a:solidFill>
              <a:srgbClr val="2D4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16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Fast Mode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1546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4A3E"/>
                </a:solidFill>
              </a:rPr>
              <a:t>DEFAULT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54680" y="2834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>
                    <a:alpha val="85000"/>
                  </a:srgbClr>
                </a:solidFill>
              </a:rPr>
              <a:t>Quick explanations · Drafting help · Domain questions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8346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C25">
                    <a:alpha val="75000"/>
                  </a:srgbClr>
                </a:solidFill>
              </a:rPr>
              <a:t>"Explain qualitative vs. quantitative research design"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657600"/>
            <a:ext cx="0" cy="68580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85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Research Mode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023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9A2A"/>
                </a:solidFill>
              </a:rPr>
              <a:t>BEST FOR PAPERS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54680" y="37033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>
                    <a:alpha val="85000"/>
                  </a:srgbClr>
                </a:solidFill>
              </a:rPr>
              <a:t>Literature search · Multi-source synthesis · Citations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78040" y="37033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C25">
                    <a:alpha val="75000"/>
                  </a:srgbClr>
                </a:solidFill>
              </a:rPr>
              <a:t>"Find papers on blockchain in supply chain (2022–25), identify gaps"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526280"/>
            <a:ext cx="0" cy="685800"/>
          </a:xfrm>
          <a:prstGeom prst="line">
            <a:avLst/>
          </a:prstGeom>
          <a:noFill/>
          <a:ln w="38100">
            <a:solidFill>
              <a:srgbClr val="6B7C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553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DeepThink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892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C73"/>
                </a:solidFill>
              </a:rPr>
              <a:t>COMPLEX PROBLEMS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54680" y="45720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>
                    <a:alpha val="85000"/>
                  </a:srgbClr>
                </a:solidFill>
              </a:rPr>
              <a:t>Methodology critique · Structured reasoning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45720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C25">
                    <a:alpha val="75000"/>
                  </a:srgbClr>
                </a:solidFill>
              </a:rPr>
              <a:t>"Critically evaluate mixed-methods design in education research"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5394960"/>
            <a:ext cx="0" cy="685800"/>
          </a:xfrm>
          <a:prstGeom prst="line">
            <a:avLst/>
          </a:prstGeom>
          <a:noFill/>
          <a:ln w="38100">
            <a:solidFill>
              <a:srgbClr val="1A2C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4223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Deep Research Agent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57607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2C25"/>
                </a:solidFill>
              </a:rPr>
              <a:t>AUTONOMOUS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54680" y="54406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>
                    <a:alpha val="85000"/>
                  </a:srgbClr>
                </a:solidFill>
              </a:rPr>
              <a:t>Browses, reads &amp; synthesises independently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78040" y="54406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C25">
                    <a:alpha val="75000"/>
                  </a:srgbClr>
                </a:solidFill>
              </a:rPr>
              <a:t>"Comprehensive review of AI in rural healthcare in India"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08 / 29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3 · 11:15 AM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The New Literature Review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TRADITIONAL METHOD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3127248"/>
            <a:ext cx="91440" cy="91440"/>
          </a:xfrm>
          <a:prstGeom prst="ellipse">
            <a:avLst/>
          </a:prstGeom>
          <a:solidFill>
            <a:srgbClr val="8B2020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540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0000"/>
                  </a:srgbClr>
                </a:solidFill>
              </a:rPr>
              <a:t>Search Google Scholar manually — days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91440" cy="91440"/>
          </a:xfrm>
          <a:prstGeom prst="ellipse">
            <a:avLst/>
          </a:prstGeom>
          <a:solidFill>
            <a:srgbClr val="8B2020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758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0000"/>
                  </a:srgbClr>
                </a:solidFill>
              </a:rPr>
              <a:t>Read 30 abstracts to find 5 relevant papers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370832"/>
            <a:ext cx="91440" cy="91440"/>
          </a:xfrm>
          <a:prstGeom prst="ellipse">
            <a:avLst/>
          </a:prstGeom>
          <a:solidFill>
            <a:srgbClr val="8B2020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0000"/>
                  </a:srgbClr>
                </a:solidFill>
              </a:rPr>
              <a:t>Build a synthesis table by hand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992624"/>
            <a:ext cx="91440" cy="91440"/>
          </a:xfrm>
          <a:prstGeom prst="ellipse">
            <a:avLst/>
          </a:prstGeom>
          <a:solidFill>
            <a:srgbClr val="8B2020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0000"/>
                  </a:srgbClr>
                </a:solidFill>
              </a:rPr>
              <a:t>Miss key papers from adjacent fields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89320" y="2743200"/>
            <a:ext cx="0" cy="3383280"/>
          </a:xfrm>
          <a:prstGeom prst="line">
            <a:avLst/>
          </a:prstGeom>
          <a:noFill/>
          <a:ln w="6350">
            <a:solidFill>
              <a:srgbClr val="2D4A3E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74320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9A2A"/>
                </a:solidFill>
              </a:rPr>
              <a:t>WITH DYNAMO AI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3127248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0540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/>
                </a:solidFill>
              </a:rPr>
              <a:t>Research Mode retrieves and ranks in seconds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3749040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6758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/>
                </a:solidFill>
              </a:rPr>
              <a:t>Synthesises 20 papers into one summary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4370832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/>
                </a:solidFill>
              </a:rPr>
              <a:t>Finds research gaps automatically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4992624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9194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/>
                </a:solidFill>
              </a:rPr>
              <a:t>Exports a full literature review draft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72200" y="5623560"/>
            <a:ext cx="5349240" cy="457200"/>
          </a:xfrm>
          <a:prstGeom prst="rect">
            <a:avLst/>
          </a:prstGeom>
          <a:solidFill>
            <a:srgbClr val="C49A2A">
              <a:alpha val="8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5687568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25"/>
                </a:solidFill>
              </a:rPr>
              <a:t>Live demo during this session — bring your own research topic.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09 / 29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3 · GAP ANALYSIS METHOD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Research Gap Analysis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9A2A"/>
                </a:solidFill>
              </a:rPr>
              <a:t>EMPIRICAL GAP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27706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Exists in theory but untested in a specific region, population, or sector.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593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9A2A"/>
                </a:solidFill>
              </a:rPr>
              <a:t>METHODOLOGICAL GAP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357530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Studies exist but used weak or biased methods.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3982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9A2A"/>
                </a:solidFill>
              </a:rPr>
              <a:t>THEORETICAL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437997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Competing frameworks contradict each other, unresolved.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52029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9A2A"/>
                </a:solidFill>
              </a:rPr>
              <a:t>TEMPORAL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518464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Studies are 5+ years old — the context has since changed.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95160" y="2743200"/>
            <a:ext cx="4572000" cy="3429000"/>
          </a:xfrm>
          <a:prstGeom prst="rect">
            <a:avLst/>
          </a:prstGeom>
          <a:solidFill>
            <a:srgbClr val="C49A2A">
              <a:alpha val="7000"/>
            </a:srgbClr>
          </a:solidFill>
          <a:ln w="19050">
            <a:solidFill>
              <a:srgbClr val="C49A2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85292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9A2A"/>
                </a:solidFill>
              </a:rPr>
              <a:t>DYNAMO AI PROMPT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78040" y="3127248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C25"/>
                </a:solidFill>
              </a:rPr>
              <a:t>"Based on current literature on [topic], identify 3–5 research gaps. Classify each by gap type and explain why it matters."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78040" y="4434840"/>
            <a:ext cx="4023360" cy="0"/>
          </a:xfrm>
          <a:prstGeom prst="line">
            <a:avLst/>
          </a:prstGeom>
          <a:noFill/>
          <a:ln w="6350">
            <a:solidFill>
              <a:srgbClr val="C49A2A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454456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Output includes gap type, why it matters, and recent sources.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10 / 29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3 · BEFORE YOU WRITE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Analysis &amp; Methodology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614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49A2A"/>
                </a:solidFill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27614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Frame the Question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30815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Turn a vague interest into a precise, testable question.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813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49A2A"/>
                </a:solidFill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8130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Choose the Methodology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41330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Use DeepThink to compare qualitative, quantitative &amp; mixed designs.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8646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49A2A"/>
                </a:solidFill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48646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Design &amp; Test the Model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51846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Upload a dataset to Data Analysis for stats and flagged patterns.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37960" y="2743200"/>
            <a:ext cx="5029200" cy="1691640"/>
          </a:xfrm>
          <a:prstGeom prst="rect">
            <a:avLst/>
          </a:prstGeom>
          <a:solidFill>
            <a:srgbClr val="C49A2A">
              <a:alpha val="7000"/>
            </a:srgbClr>
          </a:solidFill>
          <a:ln w="19050">
            <a:solidFill>
              <a:srgbClr val="C49A2A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83464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9A2A"/>
                </a:solidFill>
              </a:rPr>
              <a:t>DEEPTHINK PROMPT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20840" y="3090672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C25"/>
                </a:solidFill>
              </a:rPr>
              <a:t>"Critique whether a mixed-methods design fits microfinance's impact on rural women entrepreneurs, and suggest a sample size."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4572000"/>
            <a:ext cx="5029200" cy="1554480"/>
          </a:xfrm>
          <a:prstGeom prst="rect">
            <a:avLst/>
          </a:prstGeom>
          <a:solidFill>
            <a:srgbClr val="2D4A3E">
              <a:alpha val="5000"/>
            </a:srgbClr>
          </a:solidFill>
          <a:ln w="6350">
            <a:solidFill>
              <a:srgbClr val="2D4A3E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6817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DATA ANALYSIS · PRO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20840" y="49377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90000"/>
                  </a:srgbClr>
                </a:solidFill>
              </a:rPr>
              <a:t>Upload a CSV or Excel dataset — get descriptive stats, correlations and outliers instantly.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11 / 29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4 · 12:00 PM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Write, Cite, Publish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61488"/>
            <a:ext cx="2697480" cy="0"/>
          </a:xfrm>
          <a:prstGeom prst="line">
            <a:avLst/>
          </a:prstGeom>
          <a:noFill/>
          <a:ln w="25400">
            <a:solidFill>
              <a:srgbClr val="2D4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9A2A"/>
                </a:solidFill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200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Abstract &amp; Introduction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AI drafts a first pass — you refine with domain expertise and voice.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93008" y="2761488"/>
            <a:ext cx="2697480" cy="0"/>
          </a:xfrm>
          <a:prstGeom prst="line">
            <a:avLst/>
          </a:prstGeom>
          <a:noFill/>
          <a:ln w="25400">
            <a:solidFill>
              <a:srgbClr val="2D4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2880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9A2A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93008" y="3200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AI Plagiarism Detection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93008" y="370332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Check your draft before submission for similarity and overlap.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91656" y="2761488"/>
            <a:ext cx="2697480" cy="0"/>
          </a:xfrm>
          <a:prstGeom prst="line">
            <a:avLst/>
          </a:prstGeom>
          <a:noFill/>
          <a:ln w="25400">
            <a:solidFill>
              <a:srgbClr val="2D4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2880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9A2A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91656" y="3200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Citation Management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91656" y="370332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Automatically verify and format citations from your session.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90304" y="2761488"/>
            <a:ext cx="2697480" cy="0"/>
          </a:xfrm>
          <a:prstGeom prst="line">
            <a:avLst/>
          </a:prstGeom>
          <a:noFill/>
          <a:ln w="25400">
            <a:solidFill>
              <a:srgbClr val="2D4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0304" y="2880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9A2A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90304" y="3200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Reviewer Responses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90304" y="370332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Structure responses to peer reviewer comments faster.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" y="5394960"/>
            <a:ext cx="10972800" cy="685800"/>
          </a:xfrm>
          <a:prstGeom prst="rect">
            <a:avLst/>
          </a:prstGeom>
          <a:solidFill>
            <a:srgbClr val="2D4A3E">
              <a:alpha val="5000"/>
            </a:srgbClr>
          </a:solidFill>
          <a:ln w="6350">
            <a:solidFill>
              <a:srgbClr val="2D4A3E">
                <a:alpha val="1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486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4A3E">
                    <a:alpha val="75000"/>
                  </a:srgbClr>
                </a:solidFill>
              </a:rPr>
              <a:t>UGC / NAAC NOTE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06040" y="5468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AI assistance for research is fully compliant when properly disclosed. Integrity guidelines are covered next.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12 / 29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4 · REFERENCING DONE RIGHT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The Citation Engine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90000"/>
                  </a:srgbClr>
                </a:solidFill>
              </a:rPr>
              <a:t>Wrong or fabricated references are one of the fastest ways to lose a reviewer's trust. Citation Checker verifies every reference against the real source.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9A2A"/>
                </a:solidFill>
              </a:rPr>
              <a:t>8 SUPPORTED FORMATS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3886200"/>
            <a:ext cx="1280160" cy="411480"/>
          </a:xfrm>
          <a:prstGeom prst="rect">
            <a:avLst/>
          </a:prstGeom>
          <a:solidFill>
            <a:srgbClr val="C49A2A">
              <a:alpha val="8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9593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C25"/>
                </a:solidFill>
              </a:rPr>
              <a:t>APA 7th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47672" y="3886200"/>
            <a:ext cx="1280160" cy="411480"/>
          </a:xfrm>
          <a:prstGeom prst="rect">
            <a:avLst/>
          </a:prstGeom>
          <a:solidFill>
            <a:srgbClr val="C49A2A">
              <a:alpha val="8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39593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C25"/>
                </a:solidFill>
              </a:rPr>
              <a:t>MLA 9th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00984" y="3886200"/>
            <a:ext cx="1280160" cy="411480"/>
          </a:xfrm>
          <a:prstGeom prst="rect">
            <a:avLst/>
          </a:prstGeom>
          <a:solidFill>
            <a:srgbClr val="C49A2A">
              <a:alpha val="8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00984" y="39593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C25"/>
                </a:solidFill>
              </a:rPr>
              <a:t>Chicago 17th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54296" y="3886200"/>
            <a:ext cx="1280160" cy="411480"/>
          </a:xfrm>
          <a:prstGeom prst="rect">
            <a:avLst/>
          </a:prstGeom>
          <a:solidFill>
            <a:srgbClr val="C49A2A">
              <a:alpha val="8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39593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C25"/>
                </a:solidFill>
              </a:rPr>
              <a:t>Harvard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4389120"/>
            <a:ext cx="1280160" cy="411480"/>
          </a:xfrm>
          <a:prstGeom prst="rect">
            <a:avLst/>
          </a:prstGeom>
          <a:solidFill>
            <a:srgbClr val="C49A2A">
              <a:alpha val="8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62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C25"/>
                </a:solidFill>
              </a:rPr>
              <a:t>IEEE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47672" y="4389120"/>
            <a:ext cx="1280160" cy="411480"/>
          </a:xfrm>
          <a:prstGeom prst="rect">
            <a:avLst/>
          </a:prstGeom>
          <a:solidFill>
            <a:srgbClr val="C49A2A">
              <a:alpha val="8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47672" y="4462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C25"/>
                </a:solidFill>
              </a:rPr>
              <a:t>Vancouver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00984" y="4389120"/>
            <a:ext cx="1280160" cy="411480"/>
          </a:xfrm>
          <a:prstGeom prst="rect">
            <a:avLst/>
          </a:prstGeom>
          <a:solidFill>
            <a:srgbClr val="C49A2A">
              <a:alpha val="8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0984" y="4462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C25"/>
                </a:solidFill>
              </a:rPr>
              <a:t>ACS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54296" y="4389120"/>
            <a:ext cx="1280160" cy="411480"/>
          </a:xfrm>
          <a:prstGeom prst="rect">
            <a:avLst/>
          </a:prstGeom>
          <a:solidFill>
            <a:srgbClr val="C49A2A">
              <a:alpha val="8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54296" y="4462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C25"/>
                </a:solidFill>
              </a:rPr>
              <a:t>ASA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9834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Format instantly, on request, in any of the eight — no manual reformatting.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2743200"/>
            <a:ext cx="5166360" cy="3383280"/>
          </a:xfrm>
          <a:prstGeom prst="rect">
            <a:avLst/>
          </a:prstGeom>
          <a:solidFill>
            <a:srgbClr val="2D4A3E">
              <a:alpha val="5000"/>
            </a:srgbClr>
          </a:solidFill>
          <a:ln w="6350">
            <a:solidFill>
              <a:srgbClr val="2D4A3E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85292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WHAT IT CATCHES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3255264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3182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Fabricated or hallucinated references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3822192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Author, title, or year mismatches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83680" y="4389120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37" name="Text 35"/>
          <p:cNvSpPr/>
          <p:nvPr/>
        </p:nvSpPr>
        <p:spPr>
          <a:xfrm>
            <a:off x="6812280" y="4315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Missing DOI or incomplete metadata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83680" y="4956048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48828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Incorrect bibliography formatting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83680" y="5623560"/>
            <a:ext cx="4800600" cy="384048"/>
          </a:xfrm>
          <a:prstGeom prst="rect">
            <a:avLst/>
          </a:prstGeom>
          <a:solidFill>
            <a:srgbClr val="C49A2A">
              <a:alpha val="10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566928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25"/>
                </a:solidFill>
              </a:rPr>
              <a:t>Plus &amp; Pro feature — used in Lab 2 this afternoon.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13 / 29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4 · AI ETHICS &amp; INTEGRITY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AI Ethics &amp; Integrity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WHAT IS PERMITTED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3163824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906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Using AI to search, summarise, and synthesise literature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849624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764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AI-assisted drafting of abstracts and discussion sections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535424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622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Checking your own writing for plagiarism before submission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743200"/>
            <a:ext cx="0" cy="3383280"/>
          </a:xfrm>
          <a:prstGeom prst="line">
            <a:avLst/>
          </a:prstGeom>
          <a:noFill/>
          <a:ln w="6350">
            <a:solidFill>
              <a:srgbClr val="2D4A3E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74320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2020">
                    <a:alpha val="85000"/>
                  </a:srgbClr>
                </a:solidFill>
              </a:rPr>
              <a:t>WHAT IS NOT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3163824"/>
            <a:ext cx="91440" cy="91440"/>
          </a:xfrm>
          <a:prstGeom prst="ellipse">
            <a:avLst/>
          </a:prstGeom>
          <a:solidFill>
            <a:srgbClr val="8B2020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0906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Submitting AI-generated text verbatim as original research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3849624"/>
            <a:ext cx="91440" cy="91440"/>
          </a:xfrm>
          <a:prstGeom prst="ellipse">
            <a:avLst/>
          </a:prstGeom>
          <a:solidFill>
            <a:srgbClr val="8B2020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7764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Citing papers you have not read and verified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4535424"/>
            <a:ext cx="91440" cy="91440"/>
          </a:xfrm>
          <a:prstGeom prst="ellipse">
            <a:avLst/>
          </a:prstGeom>
          <a:solidFill>
            <a:srgbClr val="8B2020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4622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85000"/>
                  </a:srgbClr>
                </a:solidFill>
              </a:rPr>
              <a:t>Using AI to fabricate data, results, or findings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5440680"/>
            <a:ext cx="5349240" cy="640080"/>
          </a:xfrm>
          <a:prstGeom prst="rect">
            <a:avLst/>
          </a:prstGeom>
          <a:solidFill>
            <a:srgbClr val="2D4A3E">
              <a:alpha val="5000"/>
            </a:srgbClr>
          </a:solidFill>
          <a:ln w="19050">
            <a:solidFill>
              <a:srgbClr val="2D4A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5504688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E">
                    <a:alpha val="90000"/>
                  </a:srgbClr>
                </a:solidFill>
              </a:rPr>
              <a:t>Disclosure practice: "AI tools were used for literature synthesis and draft assistance. All analysis and conclusions are the authors' own."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14 / 29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4 · INTEGRITY VERIFICATION TOOLS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Plagiarism &amp; Humaniser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43200"/>
            <a:ext cx="3657600" cy="28346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43200"/>
            <a:ext cx="3657600" cy="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71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C49A2A">
                    <a:alpha val="80000"/>
                  </a:srgbClr>
                </a:solidFill>
              </a:rPr>
              <a:t>01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3255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C25"/>
                </a:solidFill>
              </a:rPr>
              <a:t>AI Text Detector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Get an AI-probability score and the writing patterns that triggered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53128" y="2743200"/>
            <a:ext cx="3657600" cy="28346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53128" y="2743200"/>
            <a:ext cx="3657600" cy="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871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C49A2A">
                    <a:alpha val="80000"/>
                  </a:srgbClr>
                </a:solidFill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36008" y="3255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C25"/>
                </a:solidFill>
              </a:rPr>
              <a:t>Similarity Check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36008" y="36576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Scans the web and 200M+ papers. Returns a true similarity score, 0–100%.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11896" y="2743200"/>
            <a:ext cx="3657600" cy="28346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11896" y="2743200"/>
            <a:ext cx="3657600" cy="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4776" y="2871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C49A2A">
                    <a:alpha val="80000"/>
                  </a:srgbClr>
                </a:solidFill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94776" y="3255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C25"/>
                </a:solidFill>
              </a:rPr>
              <a:t>Humaniser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94776" y="36576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Rewrites flagged text in a natural voice — then re-check to confirm the score dropped.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5742432"/>
            <a:ext cx="11000232" cy="457200"/>
          </a:xfrm>
          <a:prstGeom prst="rect">
            <a:avLst/>
          </a:prstGeom>
          <a:solidFill>
            <a:srgbClr val="C49A2A">
              <a:alpha val="7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7881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>
                    <a:alpha val="90000"/>
                  </a:srgbClr>
                </a:solidFill>
              </a:rPr>
              <a:t>Workflow: Detect → Check → Humanise → Re-check. Pro-only, demonstrated in Lab 2.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15 / 29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SESSION 4 · CHOOSING THE RIGHT JOURNAL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The Publication Pipeline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43200"/>
            <a:ext cx="365760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49A2A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43200"/>
            <a:ext cx="3657600" cy="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620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9A2A"/>
                </a:solidFill>
              </a:rPr>
              <a:t>TIER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25"/>
                </a:solidFill>
              </a:rPr>
              <a:t>Scopus / Web of Science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9A2A"/>
                </a:solidFill>
              </a:rPr>
              <a:t>HIGH API WEIGHT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3E">
                    <a:alpha val="85000"/>
                  </a:srgbClr>
                </a:solidFill>
              </a:rPr>
              <a:t>Q1 &amp; Q2 journals. Indexed, peer-reviewed. Required for promotions.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34840" y="2743200"/>
            <a:ext cx="365760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2743200"/>
            <a:ext cx="3657600" cy="0"/>
          </a:xfrm>
          <a:prstGeom prst="line">
            <a:avLst/>
          </a:prstGeom>
          <a:noFill/>
          <a:ln w="38100">
            <a:solidFill>
              <a:srgbClr val="2D4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8620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/>
                </a:solidFill>
              </a:rPr>
              <a:t>TIER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25"/>
                </a:solidFill>
              </a:rPr>
              <a:t>UGC CARE List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36118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4A3E"/>
                </a:solidFill>
              </a:rPr>
              <a:t>API ELIGIBLE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3886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3E">
                    <a:alpha val="85000"/>
                  </a:srgbClr>
                </a:solidFill>
              </a:rPr>
              <a:t>UGC-approved journals for Indian faculty — Group I &amp; II.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75320" y="2743200"/>
            <a:ext cx="365760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6B7C73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2743200"/>
            <a:ext cx="3657600" cy="0"/>
          </a:xfrm>
          <a:prstGeom prst="line">
            <a:avLst/>
          </a:prstGeom>
          <a:noFill/>
          <a:ln w="38100">
            <a:solidFill>
              <a:srgbClr val="6B7C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8620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C73"/>
                </a:solidFill>
              </a:rPr>
              <a:t>TIER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25"/>
                </a:solidFill>
              </a:rPr>
              <a:t>Conference Proceedings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36118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C73"/>
                </a:solidFill>
              </a:rPr>
              <a:t>SUPPLEMENTARY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3886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3E">
                    <a:alpha val="85000"/>
                  </a:srgbClr>
                </a:solidFill>
              </a:rPr>
              <a:t>IEEE, ACM, Springer — good for emerging work.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4360" y="5852160"/>
            <a:ext cx="10972800" cy="685800"/>
          </a:xfrm>
          <a:prstGeom prst="rect">
            <a:avLst/>
          </a:prstGeom>
          <a:solidFill>
            <a:srgbClr val="C49A2A">
              <a:alpha val="7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91616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E">
                    <a:alpha val="90000"/>
                  </a:srgbClr>
                </a:solidFill>
              </a:rPr>
              <a:t>Tip: Ask 'Find Scopus-indexed journals in [field] that accept [topic]. List impact factor, fee, turnaround.' Research Mode does this in 30 seconds.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16 / 29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C49A2A">
                    <a:alpha val="70000"/>
                  </a:srgbClr>
                </a:solidFill>
              </a:rPr>
              <a:t>Part II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5029200" y="2514600"/>
            <a:ext cx="21031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2C25"/>
                </a:solidFill>
              </a:rPr>
              <a:t>Afternoon Practical Block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0" y="3401568"/>
            <a:ext cx="21031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566160"/>
            <a:ext cx="8531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4A3E">
                    <a:alpha val="85000"/>
                  </a:srgbClr>
                </a:solidFill>
              </a:rPr>
              <a:t>Hands-on training directly in Dynamo AI — every faculty member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2D4A3E">
                    <a:alpha val="85000"/>
                  </a:srgbClr>
                </a:solidFill>
              </a:rPr>
              <a:t>works on their own research domain in real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17 / 29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2:00 PM · SETTING EXPECTATIONS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The Practical Block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9A2A">
                    <a:alpha val="85000"/>
                  </a:srgbClr>
                </a:solidFill>
              </a:rPr>
              <a:t>2:00 PM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72768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Platform Tour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72768" y="31181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0000"/>
                  </a:srgbClr>
                </a:solidFill>
              </a:rPr>
              <a:t>Everyone creates their account; we run the first query together.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630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9A2A">
                    <a:alpha val="85000"/>
                  </a:srgbClr>
                </a:solidFill>
              </a:rPr>
              <a:t>2:15 PM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72768" y="3630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Lab 1 — Literature Search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72768" y="39593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0000"/>
                  </a:srgbClr>
                </a:solidFill>
              </a:rPr>
              <a:t>Run a full literature search and gap analysis on your topic.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4714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9A2A">
                    <a:alpha val="85000"/>
                  </a:srgbClr>
                </a:solidFill>
              </a:rPr>
              <a:t>3:15 PM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72768" y="44714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Lab 2 — Writing &amp; Detection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72768" y="4800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0000"/>
                  </a:srgbClr>
                </a:solidFill>
              </a:rPr>
              <a:t>Draft an abstract, then run detector, similarity and humaniser.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5312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9A2A">
                    <a:alpha val="85000"/>
                  </a:srgbClr>
                </a:solidFill>
              </a:rPr>
              <a:t>4:00 PM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72768" y="5312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Lab 3 — Document Library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72768" y="56418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0000"/>
                  </a:srgbClr>
                </a:solidFill>
              </a:rPr>
              <a:t>Upload a PDF, query it, and save it to memory.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49440" y="2743200"/>
            <a:ext cx="4617720" cy="3520440"/>
          </a:xfrm>
          <a:prstGeom prst="rect">
            <a:avLst/>
          </a:prstGeom>
          <a:solidFill>
            <a:srgbClr val="2D4A3E">
              <a:alpha val="5000"/>
            </a:srgbClr>
          </a:solidFill>
          <a:ln w="6350">
            <a:solidFill>
              <a:srgbClr val="2D4A3E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85292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GROUND RULES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0" y="32004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9A2A"/>
                </a:solidFill>
              </a:rPr>
              <a:t>1.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0" y="3200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/>
                </a:solidFill>
              </a:rPr>
              <a:t>Everyone uses their own laptop / phone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40690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9A2A"/>
                </a:solidFill>
              </a:rPr>
              <a:t>2.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0" y="4069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/>
                </a:solidFill>
              </a:rPr>
              <a:t>Pick a real topic from your own research domain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49377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9A2A"/>
                </a:solidFill>
              </a:rPr>
              <a:t>3.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0" y="4937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/>
                </a:solidFill>
              </a:rPr>
              <a:t>There are no wrong questions here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18 / 29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2:00 PM · PLATFORM WALKTHROUGH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Introducing Dynamo AI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90000"/>
                  </a:srgbClr>
                </a:solidFill>
              </a:rPr>
              <a:t>A Research Operating System — not a chatbot. Built for deep, multi-source academic work.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520440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564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Fast Mode — instant answers on any topic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087368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23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Research Mode — multi-source synthesis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654296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90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DeepThink — structured reasoning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5221224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572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Deep Research Agent — autonomous mining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2743200"/>
            <a:ext cx="0" cy="3383280"/>
          </a:xfrm>
          <a:prstGeom prst="line">
            <a:avLst/>
          </a:prstGeom>
          <a:noFill/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7432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FIRST 15 MINUTES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3035808"/>
            <a:ext cx="5303520" cy="640080"/>
          </a:xfrm>
          <a:prstGeom prst="rect">
            <a:avLst/>
          </a:prstGeom>
          <a:solidFill>
            <a:srgbClr val="2D4A3E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108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49A2A"/>
                </a:solidFill>
              </a:rPr>
              <a:t>01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108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/>
                </a:solidFill>
              </a:rPr>
              <a:t>Platform tour — interface overview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813048"/>
            <a:ext cx="5303520" cy="640080"/>
          </a:xfrm>
          <a:prstGeom prst="rect">
            <a:avLst/>
          </a:prstGeom>
          <a:solidFill>
            <a:srgbClr val="2D4A3E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886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49A2A"/>
                </a:solidFill>
              </a:rPr>
              <a:t>02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3886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/>
                </a:solidFill>
              </a:rPr>
              <a:t>Create your account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4590288"/>
            <a:ext cx="5303520" cy="640080"/>
          </a:xfrm>
          <a:prstGeom prst="rect">
            <a:avLst/>
          </a:prstGeom>
          <a:solidFill>
            <a:srgbClr val="2D4A3E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49A2A"/>
                </a:solidFill>
              </a:rPr>
              <a:t>03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4663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/>
                </a:solidFill>
              </a:rPr>
              <a:t>Run your first Research Mode query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5367528"/>
            <a:ext cx="5303520" cy="640080"/>
          </a:xfrm>
          <a:prstGeom prst="rect">
            <a:avLst/>
          </a:prstGeom>
          <a:solidFill>
            <a:srgbClr val="2D4A3E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5440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49A2A"/>
                </a:solidFill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5440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/>
                </a:solidFill>
              </a:rPr>
              <a:t>Understand the difference between modes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19 / 29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LAB 1 · 2:15 PM – 3:00 PM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Literature Search &amp; Gaps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90000"/>
                  </a:srgbClr>
                </a:solidFill>
              </a:rPr>
              <a:t>Each participant picks their own research domain and completes three tasks: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337560"/>
            <a:ext cx="5486400" cy="777240"/>
          </a:xfrm>
          <a:prstGeom prst="rect">
            <a:avLst/>
          </a:prstGeom>
          <a:solidFill>
            <a:srgbClr val="C49A2A">
              <a:alpha val="5000"/>
            </a:srgbClr>
          </a:solidFill>
          <a:ln w="25400">
            <a:solidFill>
              <a:srgbClr val="C49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337560"/>
            <a:ext cx="0" cy="77724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01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25"/>
                </a:solidFill>
              </a:rPr>
              <a:t>Step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Run a Research Mode query on your topic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297680"/>
            <a:ext cx="5486400" cy="777240"/>
          </a:xfrm>
          <a:prstGeom prst="rect">
            <a:avLst/>
          </a:prstGeom>
          <a:solidFill>
            <a:srgbClr val="C49A2A">
              <a:alpha val="5000"/>
            </a:srgbClr>
          </a:solidFill>
          <a:ln w="25400">
            <a:solidFill>
              <a:srgbClr val="C49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297680"/>
            <a:ext cx="0" cy="77724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361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25"/>
                </a:solidFill>
              </a:rPr>
              <a:t>Step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663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Use Find Research Gaps on the result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257800"/>
            <a:ext cx="5486400" cy="777240"/>
          </a:xfrm>
          <a:prstGeom prst="rect">
            <a:avLst/>
          </a:prstGeom>
          <a:solidFill>
            <a:srgbClr val="C49A2A">
              <a:alpha val="5000"/>
            </a:srgbClr>
          </a:solidFill>
          <a:ln w="25400">
            <a:solidFill>
              <a:srgbClr val="C49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5257800"/>
            <a:ext cx="0" cy="77724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321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25"/>
                </a:solidFill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5623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Generate a structured summary of key papers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2743200"/>
            <a:ext cx="5074920" cy="3429000"/>
          </a:xfrm>
          <a:prstGeom prst="rect">
            <a:avLst/>
          </a:prstGeom>
          <a:solidFill>
            <a:srgbClr val="2D4A3E">
              <a:alpha val="5000"/>
            </a:srgbClr>
          </a:solidFill>
          <a:ln w="6350">
            <a:solidFill>
              <a:srgbClr val="2D4A3E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852928"/>
            <a:ext cx="4709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FACILITATOR NOTE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0" y="3127248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2C25"/>
                </a:solidFill>
              </a:rPr>
              <a:t>"Walk around. Help one-on-one.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1A2C25"/>
                </a:solidFill>
              </a:rPr>
              <a:t>The sale happens right here."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75120" y="40233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When someone gets a great result in 3 minutes, they are already convinced. Ask them to share their screen.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20 / 29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LAB 1 · WHAT GREAT OUTPUT LOOKS LIKE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A Real Gap Finding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THE PROMPT SENT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962656"/>
            <a:ext cx="4846320" cy="1051560"/>
          </a:xfrm>
          <a:prstGeom prst="rect">
            <a:avLst/>
          </a:prstGeom>
          <a:solidFill>
            <a:srgbClr val="2D4A3E">
              <a:alpha val="600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4495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C25"/>
                </a:solidFill>
              </a:rPr>
              <a:t>"Based on literature on AI in rural healthcare in India, identify 3 research gaps and an angle for each."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160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>
                    <a:alpha val="75000"/>
                  </a:srgbClr>
                </a:solidFill>
              </a:rPr>
              <a:t>Sent in Research Mode. Returned in ~12 seconds with 8 citations.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2743200"/>
            <a:ext cx="5760720" cy="1005840"/>
          </a:xfrm>
          <a:prstGeom prst="rect">
            <a:avLst/>
          </a:prstGeom>
          <a:solidFill>
            <a:srgbClr val="C49A2A">
              <a:alpha val="4000"/>
            </a:srgbClr>
          </a:solidFill>
          <a:ln w="25400">
            <a:solidFill>
              <a:srgbClr val="C49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2743200"/>
            <a:ext cx="0" cy="100584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79806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49A2A"/>
                </a:solidFill>
              </a:rPr>
              <a:t>GAP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89320" y="29992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25"/>
                </a:solidFill>
              </a:rPr>
              <a:t>Empirical — Last-mile Connectivity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89320" y="327355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3E">
                    <a:alpha val="85000"/>
                  </a:srgbClr>
                </a:solidFill>
              </a:rPr>
              <a:t>Rural telemedicine in Bihar/Odisha is unstudied. Angle: ASHA-worker-assisted AI triage in 5 PHCs.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06440" y="3858768"/>
            <a:ext cx="5760720" cy="1005840"/>
          </a:xfrm>
          <a:prstGeom prst="rect">
            <a:avLst/>
          </a:prstGeom>
          <a:solidFill>
            <a:srgbClr val="C49A2A">
              <a:alpha val="4000"/>
            </a:srgbClr>
          </a:solidFill>
          <a:ln w="25400">
            <a:solidFill>
              <a:srgbClr val="C49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3858768"/>
            <a:ext cx="0" cy="100584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9136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49A2A"/>
                </a:solidFill>
              </a:rPr>
              <a:t>GAP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89320" y="4114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25"/>
                </a:solidFill>
              </a:rPr>
              <a:t>Methodological — Language Bias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89320" y="4389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3E">
                    <a:alpha val="85000"/>
                  </a:srgbClr>
                </a:solidFill>
              </a:rPr>
              <a:t>NLP tools trained mostly on English/Hindi. Angle: bias audit across 6 regional languages.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06440" y="4974336"/>
            <a:ext cx="5760720" cy="1005840"/>
          </a:xfrm>
          <a:prstGeom prst="rect">
            <a:avLst/>
          </a:prstGeom>
          <a:solidFill>
            <a:srgbClr val="C49A2A">
              <a:alpha val="4000"/>
            </a:srgbClr>
          </a:solidFill>
          <a:ln w="25400">
            <a:solidFill>
              <a:srgbClr val="C49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4974336"/>
            <a:ext cx="0" cy="100584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0292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49A2A"/>
                </a:solidFill>
              </a:rPr>
              <a:t>GAP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89320" y="52303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25"/>
                </a:solidFill>
              </a:rPr>
              <a:t>Temporal — Post-COVID Infrastructure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89320" y="550468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3E">
                    <a:alpha val="85000"/>
                  </a:srgbClr>
                </a:solidFill>
              </a:rPr>
              <a:t>Most cited studies are 2019–21; a 2024+ reassessment is overdue.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21 / 29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LAB 2 · 3:15 PM – 4:00 PM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Draft, Detect, Verify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43200"/>
            <a:ext cx="2788920" cy="30632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43200"/>
            <a:ext cx="2788920" cy="0"/>
          </a:xfrm>
          <a:prstGeom prst="line">
            <a:avLst/>
          </a:prstGeom>
          <a:noFill/>
          <a:ln w="38100">
            <a:solidFill>
              <a:srgbClr val="2D4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620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49A2A"/>
                </a:solidFill>
              </a:rPr>
              <a:t>RESEARCH WRITING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C25"/>
                </a:solidFill>
              </a:rPr>
              <a:t>01. Draft an Abstract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363931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>
                    <a:alpha val="85000"/>
                  </a:srgbClr>
                </a:solidFill>
              </a:rPr>
              <a:t>Draft an abstract for your own idea, then refine with your expertise.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93008" y="2743200"/>
            <a:ext cx="2788920" cy="30632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93008" y="2743200"/>
            <a:ext cx="2788920" cy="0"/>
          </a:xfrm>
          <a:prstGeom prst="line">
            <a:avLst/>
          </a:prstGeom>
          <a:noFill/>
          <a:ln w="38100">
            <a:solidFill>
              <a:srgbClr val="2D4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28620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49A2A"/>
                </a:solidFill>
              </a:rPr>
              <a:t>ORIGINALITY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30168" y="3090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C25"/>
                </a:solidFill>
              </a:rPr>
              <a:t>02. AI Detector + Similarity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30168" y="363931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>
                    <a:alpha val="85000"/>
                  </a:srgbClr>
                </a:solidFill>
              </a:rPr>
              <a:t>See the AI probability score, then check similarity against sources.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91656" y="2743200"/>
            <a:ext cx="2788920" cy="30632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91656" y="2743200"/>
            <a:ext cx="2788920" cy="0"/>
          </a:xfrm>
          <a:prstGeom prst="line">
            <a:avLst/>
          </a:prstGeom>
          <a:noFill/>
          <a:ln w="38100">
            <a:solidFill>
              <a:srgbClr val="2D4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28620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49A2A"/>
                </a:solidFill>
              </a:rPr>
              <a:t>VERIFICATION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28816" y="3090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C25"/>
                </a:solidFill>
              </a:rPr>
              <a:t>03. Humanise &amp; Re-check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28816" y="363931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>
                    <a:alpha val="85000"/>
                  </a:srgbClr>
                </a:solidFill>
              </a:rPr>
              <a:t>Run flagged sections through Humaniser, then re-check the score.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90304" y="2743200"/>
            <a:ext cx="2788920" cy="30632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90304" y="2743200"/>
            <a:ext cx="2788920" cy="0"/>
          </a:xfrm>
          <a:prstGeom prst="line">
            <a:avLst/>
          </a:prstGeom>
          <a:noFill/>
          <a:ln w="38100">
            <a:solidFill>
              <a:srgbClr val="2D4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27464" y="28620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49A2A"/>
                </a:solidFill>
              </a:rPr>
              <a:t>DOCUMENTATION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427464" y="3090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C25"/>
                </a:solidFill>
              </a:rPr>
              <a:t>04. Export Results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427464" y="363931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>
                    <a:alpha val="85000"/>
                  </a:srgbClr>
                </a:solidFill>
              </a:rPr>
              <a:t>Save your summary and download detection reports.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943600"/>
            <a:ext cx="11000232" cy="502920"/>
          </a:xfrm>
          <a:prstGeom prst="rect">
            <a:avLst/>
          </a:prstGeom>
          <a:solidFill>
            <a:srgbClr val="C49A2A">
              <a:alpha val="6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99846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3E">
                    <a:alpha val="90000"/>
                  </a:srgbClr>
                </a:solidFill>
              </a:rPr>
              <a:t>Real task, real research — immediate personal value for every participant.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22 / 29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FEATURE SPOTLIGHT · THE AUTONOMOUS RESEARCHER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Deep Research Agent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90000"/>
                  </a:srgbClr>
                </a:solidFill>
              </a:rPr>
              <a:t>Unlike Research Mode (one query), the Deep Research Agent works independently for minutes — browsing, reading, and synthesising a full report.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9A2A"/>
                </a:solidFill>
              </a:rPr>
              <a:t>01.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35204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Breaks your topic into sub-questions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087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9A2A"/>
                </a:solidFill>
              </a:rPr>
              <a:t>02.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408736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Searches and reads sources autonomously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6542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9A2A"/>
                </a:solidFill>
              </a:rPr>
              <a:t>03.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465429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Synthesises findings with citations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522122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9A2A"/>
                </a:solidFill>
              </a:rPr>
              <a:t>04.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5221224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90000"/>
                  </a:srgbClr>
                </a:solidFill>
              </a:rPr>
              <a:t>Delivers a draft literature review in minutes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2743200"/>
            <a:ext cx="4754880" cy="3794760"/>
          </a:xfrm>
          <a:prstGeom prst="rect">
            <a:avLst/>
          </a:prstGeom>
          <a:solidFill>
            <a:srgbClr val="C49A2A">
              <a:alpha val="6000"/>
            </a:srgbClr>
          </a:solidFill>
          <a:ln w="25400">
            <a:solidFill>
              <a:srgbClr val="C49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87121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9A2A"/>
                </a:solidFill>
              </a:rPr>
              <a:t>LIVE DEMO PROMPT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3127248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C25"/>
                </a:solidFill>
              </a:rPr>
              <a:t>"Do a literature review on [your topic]. Include key themes, gaps, and 5 paper suggestions."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4224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Ask a volunteer to share their screen. Let the agent run.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95160" y="4828032"/>
            <a:ext cx="4389120" cy="685800"/>
          </a:xfrm>
          <a:prstGeom prst="rect">
            <a:avLst/>
          </a:prstGeom>
          <a:solidFill>
            <a:srgbClr val="2D4A3E">
              <a:alpha val="600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49011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AVAILABLE 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5120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25"/>
                </a:solidFill>
              </a:rPr>
              <a:t>Pro plan only · ₹1,799/mo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23 / 29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LAB 3 · 4:00 PM – 4:30 PM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Document Library &amp; Memory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200400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272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Upload a PDF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4564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Dynamo AI reads and summarises it instantly.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023360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502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Ask questions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2793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Query it directly: findings, methodology, limitations.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846320"/>
            <a:ext cx="91440" cy="91440"/>
          </a:xfrm>
          <a:prstGeom prst="ellipse">
            <a:avLst/>
          </a:prstGeom>
          <a:solidFill>
            <a:srgbClr val="C49A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731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Save to Library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1023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Remembered in every future chat — it gets smarter over time.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2743200"/>
            <a:ext cx="5166360" cy="3429000"/>
          </a:xfrm>
          <a:prstGeom prst="rect">
            <a:avLst/>
          </a:prstGeom>
          <a:solidFill>
            <a:srgbClr val="2D4A3E">
              <a:alpha val="5000"/>
            </a:srgbClr>
          </a:solidFill>
          <a:ln w="6350">
            <a:solidFill>
              <a:srgbClr val="2D4A3E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85292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4A3E">
                    <a:alpha val="75000"/>
                  </a:srgbClr>
                </a:solidFill>
              </a:rPr>
              <a:t>AI MEMORY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31089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4A3E">
                    <a:alpha val="90000"/>
                  </a:srgbClr>
                </a:solidFill>
              </a:rPr>
              <a:t>Every uploaded paper and personal detail is remembered — future chats use it as context automatically.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0" y="4160520"/>
            <a:ext cx="46177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2976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25"/>
                </a:solidFill>
              </a:rPr>
              <a:t>Available on Plus &amp; Pro plans.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24 / 29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4:30 PM · WHY DYNAMO AI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Dynamo AI vs. the Rest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43200"/>
          <a:ext cx="11000232" cy="310896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1920240"/>
                <a:gridCol w="1856232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1A2C25"/>
                          </a:solidFill>
                        </a:rPr>
                        <a:t>DYNAMO 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FFFFFF"/>
                          </a:solidFill>
                        </a:rPr>
                        <a:t>CHATGPT PLUS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FFFFFF"/>
                          </a:solidFill>
                        </a:rPr>
                        <a:t>GEMINI PRO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FFFFFF"/>
                          </a:solidFill>
                        </a:rPr>
                        <a:t>PERPLEXITY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2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Research Gap Finder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✓ Built-in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202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202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202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Persistent AI Memory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✓ Full context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</a:rPr>
                        <a:t>Limited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</a:rPr>
                        <a:t>Project only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202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AI &amp; Plagiarism Detector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✓ Included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202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202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202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Humaniser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✓ Included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202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202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202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Citation Engine (8 formats)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✓ Verified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</a:rPr>
                        <a:t>Basic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</a:rPr>
                        <a:t>Basic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</a:rPr>
                        <a:t>Basic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Data on Indian Servers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✓ India-first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</a:rPr>
                        <a:t>US servers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</a:rPr>
                        <a:t>US servers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</a:rPr>
                        <a:t>US servers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INR Pricing / month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3E"/>
                          </a:solidFill>
                        </a:rPr>
                        <a:t>₹99–1799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</a:rPr>
                        <a:t>₹1,999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</a:rPr>
                        <a:t>₹1,950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</a:rPr>
                        <a:t>₹1,999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94360" y="5943600"/>
            <a:ext cx="11000232" cy="457200"/>
          </a:xfrm>
          <a:prstGeom prst="rect">
            <a:avLst/>
          </a:prstGeom>
          <a:solidFill>
            <a:srgbClr val="2D4A3E">
              <a:alpha val="7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25"/>
                </a:solidFill>
              </a:rPr>
              <a:t>Dynamo AI Pro is roughly 10% cheaper than ChatGPT Plus &amp; Gemini Pro — and covers research workflows they don't.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25 / 29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4:30 PM · PLANS &amp; PRICING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1000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Subscription Plans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6459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43200"/>
            <a:ext cx="3520440" cy="3063240"/>
          </a:xfrm>
          <a:prstGeom prst="rect">
            <a:avLst/>
          </a:prstGeom>
          <a:solidFill>
            <a:srgbClr val="2D4A3E">
              <a:alpha val="6000"/>
            </a:srgbClr>
          </a:solidFill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88920"/>
            <a:ext cx="3520440" cy="0"/>
          </a:xfrm>
          <a:prstGeom prst="line">
            <a:avLst/>
          </a:prstGeom>
          <a:noFill/>
          <a:ln w="38100">
            <a:solidFill>
              <a:srgbClr val="2D4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0779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2C25"/>
                </a:solidFill>
              </a:rPr>
              <a:t>BASIC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182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C25"/>
                </a:solidFill>
              </a:rPr>
              <a:t>₹99</a:t>
            </a:r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 /mo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" y="3593592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>
                    <a:alpha val="90000"/>
                  </a:srgbClr>
                </a:solidFill>
              </a:rPr>
              <a:t>No free trial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85000"/>
                  </a:srgbClr>
                </a:solidFill>
              </a:rPr>
              <a:t>General users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279392"/>
            <a:ext cx="73152" cy="73152"/>
          </a:xfrm>
          <a:prstGeom prst="ellipse">
            <a:avLst/>
          </a:prstGeom>
          <a:solidFill>
            <a:srgbClr val="1A2C25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15384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3E"/>
                </a:solidFill>
              </a:rPr>
              <a:t>10 chats / day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626864"/>
            <a:ext cx="73152" cy="73152"/>
          </a:xfrm>
          <a:prstGeom prst="ellipse">
            <a:avLst/>
          </a:prstGeom>
          <a:solidFill>
            <a:srgbClr val="1A2C25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562856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3E"/>
                </a:solidFill>
              </a:rPr>
              <a:t>Fast Mode + voice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2743200"/>
            <a:ext cx="3520440" cy="3063240"/>
          </a:xfrm>
          <a:prstGeom prst="rect">
            <a:avLst/>
          </a:prstGeom>
          <a:solidFill>
            <a:srgbClr val="C49A2A">
              <a:alpha val="6000"/>
            </a:srgbClr>
          </a:solidFill>
          <a:ln w="6350">
            <a:solidFill>
              <a:srgbClr val="C49A2A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2788920"/>
            <a:ext cx="3520440" cy="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90779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2C25"/>
                </a:solidFill>
              </a:rPr>
              <a:t>PLUS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3182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C25"/>
                </a:solidFill>
              </a:rPr>
              <a:t>₹799</a:t>
            </a:r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 /mo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526280" y="3593592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>
                    <a:alpha val="90000"/>
                  </a:srgbClr>
                </a:solidFill>
              </a:rPr>
              <a:t>7-day free trial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26280" y="3840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85000"/>
                  </a:srgbClr>
                </a:solidFill>
              </a:rPr>
              <a:t>Students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4279392"/>
            <a:ext cx="73152" cy="73152"/>
          </a:xfrm>
          <a:prstGeom prst="ellipse">
            <a:avLst/>
          </a:prstGeom>
          <a:solidFill>
            <a:srgbClr val="1A2C25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4215384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3E"/>
                </a:solidFill>
              </a:rPr>
              <a:t>100 chats / day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26280" y="4626864"/>
            <a:ext cx="73152" cy="73152"/>
          </a:xfrm>
          <a:prstGeom prst="ellipse">
            <a:avLst/>
          </a:prstGeom>
          <a:solidFill>
            <a:srgbClr val="1A2C25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4562856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3E"/>
                </a:solidFill>
              </a:rPr>
              <a:t>Research Mode + Memory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26280" y="4974336"/>
            <a:ext cx="73152" cy="73152"/>
          </a:xfrm>
          <a:prstGeom prst="ellipse">
            <a:avLst/>
          </a:prstGeom>
          <a:solidFill>
            <a:srgbClr val="1A2C25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491032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3E"/>
                </a:solidFill>
              </a:rPr>
              <a:t>8 citation formats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01000" y="2743200"/>
            <a:ext cx="3520440" cy="3063240"/>
          </a:xfrm>
          <a:prstGeom prst="rect">
            <a:avLst/>
          </a:prstGeom>
          <a:solidFill>
            <a:srgbClr val="1A2C25">
              <a:alpha val="10000"/>
            </a:srgbClr>
          </a:solidFill>
          <a:ln w="6350">
            <a:solidFill>
              <a:srgbClr val="1A2C25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2788920"/>
            <a:ext cx="3520440" cy="0"/>
          </a:xfrm>
          <a:prstGeom prst="line">
            <a:avLst/>
          </a:prstGeom>
          <a:noFill/>
          <a:ln w="38100">
            <a:solidFill>
              <a:srgbClr val="1A2C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290779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2C25"/>
                </a:solidFill>
              </a:rPr>
              <a:t>PRO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0" y="3182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C25"/>
                </a:solidFill>
              </a:rPr>
              <a:t>₹1,799</a:t>
            </a:r>
            <a:pPr indent="0" marL="0">
              <a:buNone/>
            </a:pPr>
            <a:r>
              <a:rPr lang="en-US" sz="1200" dirty="0">
                <a:solidFill>
                  <a:srgbClr val="2D4A3E"/>
                </a:solidFill>
              </a:rPr>
              <a:t> /mo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229600" y="3593592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>
                    <a:alpha val="90000"/>
                  </a:srgbClr>
                </a:solidFill>
              </a:rPr>
              <a:t>14-day free trial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0" y="3840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3E">
                    <a:alpha val="85000"/>
                  </a:srgbClr>
                </a:solidFill>
              </a:rPr>
              <a:t>Faculty &amp; researchers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29600" y="4279392"/>
            <a:ext cx="73152" cy="73152"/>
          </a:xfrm>
          <a:prstGeom prst="ellipse">
            <a:avLst/>
          </a:prstGeom>
          <a:solidFill>
            <a:srgbClr val="1A2C25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4215384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3E"/>
                </a:solidFill>
              </a:rPr>
              <a:t>300 chats + DeepThink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229600" y="4626864"/>
            <a:ext cx="73152" cy="73152"/>
          </a:xfrm>
          <a:prstGeom prst="ellipse">
            <a:avLst/>
          </a:prstGeom>
          <a:solidFill>
            <a:srgbClr val="1A2C25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0" y="4562856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3E"/>
                </a:solidFill>
              </a:rPr>
              <a:t>Detector, Similarity, Humaniser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229600" y="4974336"/>
            <a:ext cx="73152" cy="73152"/>
          </a:xfrm>
          <a:prstGeom prst="ellipse">
            <a:avLst/>
          </a:prstGeom>
          <a:solidFill>
            <a:srgbClr val="1A2C25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0" y="491032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3E"/>
                </a:solidFill>
              </a:rPr>
              <a:t>Deep Research Agent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94360" y="5989320"/>
            <a:ext cx="11000232" cy="411480"/>
          </a:xfrm>
          <a:prstGeom prst="rect">
            <a:avLst/>
          </a:prstGeom>
          <a:solidFill>
            <a:srgbClr val="C49A2A">
              <a:alpha val="7000"/>
            </a:srgbClr>
          </a:solidFill>
          <a:ln w="12700">
            <a:solidFill>
              <a:srgbClr val="C49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6035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25"/>
                </a:solidFill>
              </a:rPr>
              <a:t>Institutions: bulk faculty licensing available — ask us at the end of today's session.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26 / 29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BEFORE YOU LEAVE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3 Things to Do Monday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029200" y="2514600"/>
            <a:ext cx="21031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88920"/>
            <a:ext cx="3657600" cy="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88920"/>
            <a:ext cx="3657600" cy="33832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260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49A2A">
                    <a:alpha val="70000"/>
                  </a:srgbClr>
                </a:solidFill>
              </a:rPr>
              <a:t>01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77240" y="35844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C25"/>
                </a:solidFill>
              </a:rPr>
              <a:t>Open Dynamo AI on your topic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169664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Run a Research Mode query, see the gaps, pick an angle — that's your abstract.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53128" y="2788920"/>
            <a:ext cx="3657600" cy="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53128" y="2788920"/>
            <a:ext cx="3657600" cy="33832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9260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49A2A">
                    <a:alpha val="70000"/>
                  </a:srgbClr>
                </a:solidFill>
              </a:rPr>
              <a:t>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36008" y="35844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C25"/>
                </a:solidFill>
              </a:rPr>
              <a:t>Share a gap finding with a colleague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36008" y="4169664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Send the gap analysis output to one colleague. That's how this spreads.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11896" y="2788920"/>
            <a:ext cx="3657600" cy="0"/>
          </a:xfrm>
          <a:prstGeom prst="line">
            <a:avLst/>
          </a:prstGeom>
          <a:noFill/>
          <a:ln w="38100">
            <a:solidFill>
              <a:srgbClr val="C49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11896" y="2788920"/>
            <a:ext cx="3657600" cy="33832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4776" y="29260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49A2A">
                    <a:alpha val="70000"/>
                  </a:srgbClr>
                </a:solidFill>
              </a:rPr>
              <a:t>03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494776" y="35844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C25"/>
                </a:solidFill>
              </a:rPr>
              <a:t>Save a paper to your Library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94776" y="4169664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>
                    <a:alpha val="85000"/>
                  </a:srgbClr>
                </a:solidFill>
              </a:rPr>
              <a:t>Upload your key reference paper — every future chat will know your context.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27 / 29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OPEN FLOOR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0" y="1600200"/>
            <a:ext cx="21031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2C25"/>
                </a:solidFill>
              </a:rPr>
              <a:t>Questions &amp; Discussion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5029200" y="2606040"/>
            <a:ext cx="21031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74320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4A3E">
                    <a:alpha val="85000"/>
                  </a:srgbClr>
                </a:solidFill>
              </a:rPr>
              <a:t>No wrong questions. If you thought of it, someone else in the room did too.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337560"/>
            <a:ext cx="2788920" cy="26060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474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C25"/>
                </a:solidFill>
              </a:rPr>
              <a:t>How does billing work?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8952" y="4069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3E">
                    <a:alpha val="80000"/>
                  </a:srgbClr>
                </a:solidFill>
              </a:rPr>
              <a:t>Basic is ₹99/mo (no trial). Plus and Pro include a free trial before any charge.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93008" y="3337560"/>
            <a:ext cx="2788920" cy="26060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474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C25"/>
                </a:solidFill>
              </a:rPr>
              <a:t>Does it work offline?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57600" y="4069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3E">
                    <a:alpha val="80000"/>
                  </a:srgbClr>
                </a:solidFill>
              </a:rPr>
              <a:t>No — it queries live sources in real time. Needs internet.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91656" y="3337560"/>
            <a:ext cx="2788920" cy="26060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474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C25"/>
                </a:solidFill>
              </a:rPr>
              <a:t>Is my data private?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56248" y="4069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3E">
                    <a:alpha val="80000"/>
                  </a:srgbClr>
                </a:solidFill>
              </a:rPr>
              <a:t>Private to your account, stored on Indian servers. We don't train on your data.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290304" y="3337560"/>
            <a:ext cx="2788920" cy="26060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2D4A3E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54896" y="3474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C25"/>
                </a:solidFill>
              </a:rPr>
              <a:t>Can students use it?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54896" y="4069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3E">
                    <a:alpha val="80000"/>
                  </a:srgbClr>
                </a:solidFill>
              </a:rPr>
              <a:t>Yes — Basic and Plus suit students. Bulk college-wide licensing is available.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28 / 29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59768" cy="6583680"/>
          </a:xfrm>
          <a:prstGeom prst="rect">
            <a:avLst/>
          </a:prstGeom>
          <a:ln w="381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11603736" cy="6364224"/>
          </a:xfrm>
          <a:prstGeom prst="rect">
            <a:avLst/>
          </a:prstGeom>
          <a:ln w="6350">
            <a:solidFill>
              <a:srgbClr val="2D4A3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E"/>
                </a:solidFill>
              </a:rPr>
              <a:t>DYNAMO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Research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51392" y="411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4A3E"/>
                </a:solidFill>
              </a:rPr>
              <a:t>FDP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51392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4A3E">
                    <a:alpha val="70000"/>
                  </a:srgbClr>
                </a:solidFill>
              </a:rPr>
              <a:t>Faculty Development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18872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D4A3E">
                    <a:alpha val="85000"/>
                  </a:srgbClr>
                </a:solidFill>
              </a:rPr>
              <a:t>THANK YOU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0" y="1810512"/>
            <a:ext cx="21031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38528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2C25"/>
                </a:solidFill>
              </a:rPr>
              <a:t>Research That Took Days.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2D4A3E">
                    <a:alpha val="85000"/>
                  </a:srgbClr>
                </a:solidFill>
              </a:rPr>
              <a:t>Now Done in Minutes.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029200" y="3566160"/>
            <a:ext cx="2103120" cy="0"/>
          </a:xfrm>
          <a:prstGeom prst="line">
            <a:avLst/>
          </a:prstGeom>
          <a:noFill/>
          <a:ln w="6350">
            <a:solidFill>
              <a:srgbClr val="2D4A3E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37947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D4A3E">
                    <a:alpha val="70000"/>
                  </a:srgbClr>
                </a:solidFill>
              </a:rPr>
              <a:t>PLATFORM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dynamoai.app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947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D4A3E">
                    <a:alpha val="70000"/>
                  </a:srgbClr>
                </a:solidFill>
              </a:rPr>
              <a:t>PRICING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Basic ₹99 · Plus ₹799 · Pro ₹1799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37947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D4A3E">
                    <a:alpha val="70000"/>
                  </a:srgbClr>
                </a:solidFill>
              </a:rPr>
              <a:t>CERTIFICATE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C25"/>
                </a:solidFill>
              </a:rPr>
              <a:t>Issued to all participants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291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Dynamo AI · Confidential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994392" y="6291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4A3E">
                    <a:alpha val="60000"/>
                  </a:srgbClr>
                </a:solidFill>
              </a:rPr>
              <a:t>29 / 29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2026-07-29T10:36:46Z</dcterms:created>
  <dcterms:modified xsi:type="dcterms:W3CDTF">2026-07-29T10:36:46Z</dcterms:modified>
</cp:coreProperties>
</file>