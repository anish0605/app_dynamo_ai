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yna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46304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Arial"/>
              </a:rPr>
              <a:t>WEBINAR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4480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Research Smarter,
Publish Faster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160520"/>
            <a:ext cx="2377440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Arial"/>
              </a:rPr>
              <a:t>The AI-Powered Future of Academic Research
A practical workshop for researchers, PhD scholars &amp; faculty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Arial"/>
              </a:rPr>
              <a:t>Anish Krisna
Founder, Dynamo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1371600"/>
            <a:ext cx="642823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1B2E4B"/>
                </a:solidFill>
                <a:latin typeface="Arial"/>
              </a:rPr>
              <a:t>"Researchers don't need another AI chatbot.
They need one intelligent
research workspace."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32588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77840" y="3749039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300">
                <a:solidFill>
                  <a:srgbClr val="1B2E4B"/>
                </a:solidFill>
                <a:latin typeface="Arial"/>
              </a:rPr>
              <a:t>  AI-Powered Research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4434839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300">
                <a:solidFill>
                  <a:srgbClr val="1B2E4B"/>
                </a:solidFill>
                <a:latin typeface="Arial"/>
              </a:rPr>
              <a:t>  Cite &amp; Verify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5120639"/>
            <a:ext cx="2926080" cy="50292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l"/>
            <a:r>
              <a:rPr sz="1300">
                <a:solidFill>
                  <a:srgbClr val="1B2E4B"/>
                </a:solidFill>
                <a:latin typeface="Arial"/>
              </a:rPr>
              <a:t>  Gap Discovery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Why Are We Here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Arial"/>
              </a:rPr>
              <a:t>How many of you have experienced at least one of these?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    Spending weeks on literature review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16352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816352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    Not knowing if your research idea is truly novel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29584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29584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    Struggling with citations and references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103120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2103120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    Fear of accidental plagiarism before submission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816352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2816352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816352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    Drowning in information overload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29584"/>
            <a:ext cx="53035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529584"/>
            <a:ext cx="64008" cy="56692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529584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    Pressure to publish — limited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2E4B"/>
                </a:solidFill>
                <a:latin typeface="Arial"/>
              </a:rPr>
              <a:t>You are not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Reality of Research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1B2E4B"/>
                </a:solidFill>
                <a:latin typeface="Arial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B5563"/>
                </a:solidFill>
                <a:latin typeface="Arial"/>
              </a:rPr>
              <a:t>of research time is spent
searching, organizing &amp; rewriting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463040"/>
            <a:ext cx="2560320" cy="9144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SEARCHING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463040"/>
            <a:ext cx="1828800" cy="9144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READING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560320"/>
            <a:ext cx="1828800" cy="9144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FORMATTING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560320"/>
            <a:ext cx="2651760" cy="9144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CITATIONS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657600"/>
            <a:ext cx="4663440" cy="6858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B2E4B"/>
                </a:solidFill>
                <a:latin typeface="Arial"/>
              </a:rPr>
              <a:t>ACTUAL DISCOVERY  —  only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1B2E4B"/>
                </a:solidFill>
                <a:latin typeface="Arial"/>
              </a:rPr>
              <a:t>Researchers deserve to spend more time on discovery, less on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MY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I Didn't Set Out to Build
Another AI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B5563"/>
                </a:solidFill>
                <a:latin typeface="Arial"/>
              </a:rPr>
              <a:t>One researcher's frustration became a platform.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10789920" cy="10058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514600"/>
            <a:ext cx="91440" cy="100584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1 Conference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53512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It took me 6 months — juggling 12 different tools, chasing citations, and rewriting sections from scratch.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03320"/>
            <a:ext cx="10789920" cy="10058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03320"/>
            <a:ext cx="91440" cy="100584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9476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After Building Dynamo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42232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The same quality paper done in 1 week. Submitted. Accepted. Published.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92040"/>
            <a:ext cx="10789920" cy="10058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892040"/>
            <a:ext cx="91440" cy="100584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The Turning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30952"/>
            <a:ext cx="10149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I realized the bottleneck wasn't intelligence — it was workflow. The research process itself was broken.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MY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657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Same Pattern — Everywhere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Arial"/>
              </a:rPr>
              <a:t>Every researcher I spoke to had the same story: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5394960" cy="10058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64008" cy="10058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Hours lost finding papers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591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Brilliant researchers spending evenings manually searching databases.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1920240"/>
            <a:ext cx="5394960" cy="10058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920240"/>
            <a:ext cx="64008" cy="10058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011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Scattered notes and citations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3591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Findings spread across PDFs, Word docs, and browser bookmarks.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108960"/>
            <a:ext cx="5394960" cy="10058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108960"/>
            <a:ext cx="64008" cy="10058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Uncertainty about novelty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5478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No clear way to know if the research idea was truly original.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3108960"/>
            <a:ext cx="5394960" cy="10058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3108960"/>
            <a:ext cx="64008" cy="10058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Pressure with limited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4787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Publish-or-perish culture, but the tools hadn't kept up.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4297680"/>
            <a:ext cx="5394960" cy="100584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0" y="4297680"/>
            <a:ext cx="64008" cy="10058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Tool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73659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Jumping between ChatGPT, Zotero, Turnitin, and 8 other apps per paper.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1B2E4B"/>
                </a:solidFill>
                <a:latin typeface="Arial"/>
              </a:rPr>
              <a:t>I built Dynamo AI so researchers spend more time discovering, less time managing.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Current Research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Arial"/>
              </a:rPr>
              <a:t>Researchers already use excellent tools — just not together.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3520440" cy="47548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AI Writing &amp; 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514600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877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ChatGPT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81528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1546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Claude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48456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7216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97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Arial"/>
              </a:rPr>
              <a:t>Draft, summarise, and analyse research content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1920240"/>
            <a:ext cx="3520440" cy="475488"/>
          </a:xfrm>
          <a:prstGeom prst="rect">
            <a:avLst/>
          </a:prstGeom>
          <a:solidFill>
            <a:srgbClr val="1D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Citation &amp; Integrity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5968" y="2514600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5877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Zotero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3081528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1546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Turnitin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3648456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37216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Scite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297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Arial"/>
              </a:rPr>
              <a:t>Manage references and check for plagiarism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37576" y="1920240"/>
            <a:ext cx="3520440" cy="475488"/>
          </a:xfrm>
          <a:prstGeom prst="rect">
            <a:avLst/>
          </a:prstGeom>
          <a:solidFill>
            <a:srgbClr val="075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Paper Discovery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2514600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168" y="2587752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Perplexity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37576" y="3081528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3154680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Consensus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37576" y="3648456"/>
            <a:ext cx="3520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02168" y="3721608"/>
            <a:ext cx="3246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ResearchRabbit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37576" y="4297680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B5563"/>
                </a:solidFill>
                <a:latin typeface="Arial"/>
              </a:rPr>
              <a:t>Find papers, track authors, and map literature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983480"/>
            <a:ext cx="10972800" cy="6217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047488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The problem: researchers switch between all 3 categories — losing context and time with every switch.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Problem With Existing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3291840" cy="21945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AB308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1554480"/>
            <a:ext cx="3291840" cy="21945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69080" y="17373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AB308"/>
                </a:solidFill>
                <a:latin typeface="Arial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908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554480"/>
            <a:ext cx="3291840" cy="21945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73736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AB308"/>
                </a:solidFill>
                <a:latin typeface="Arial"/>
              </a:rPr>
              <a:t>20+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Arial"/>
              </a:rPr>
              <a:t>Browser Tabs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31920"/>
            <a:ext cx="3291840" cy="128016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Broken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074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Context switching kills deep thinking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69080" y="3931920"/>
            <a:ext cx="3291840" cy="128016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Multiple Subscriptions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4074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Cost adds up — and nothing integrates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43800" y="3931920"/>
            <a:ext cx="3291840" cy="128016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4023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No Single 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407408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B5563"/>
                </a:solidFill>
                <a:latin typeface="Arial"/>
              </a:rPr>
              <a:t>Work scattered across tools and tabs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961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1">
                <a:solidFill>
                  <a:srgbClr val="1B2E4B"/>
                </a:solidFill>
                <a:latin typeface="Arial"/>
              </a:rPr>
              <a:t>Does this look familiar?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17352" y="0"/>
            <a:ext cx="1371600" cy="13716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40080"/>
            <a:ext cx="8686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1">
                <a:solidFill>
                  <a:srgbClr val="FFFFFF"/>
                </a:solidFill>
                <a:latin typeface="Arial"/>
              </a:rPr>
              <a:t>"Researchers don't need
another AI chatbot.
They need one intelligent
research workspace."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657600"/>
            <a:ext cx="237744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B308"/>
                </a:solidFill>
                <a:latin typeface="Arial"/>
              </a:rPr>
              <a:t>Dynamo AI Vision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Search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61120" y="4297680"/>
            <a:ext cx="1737360" cy="548640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B308"/>
                </a:solidFill>
                <a:latin typeface="Arial"/>
              </a:rPr>
              <a:t>All in one place.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961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Arial"/>
              </a:rPr>
              <a:t>Let me show you how modern researchers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THE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AI-Powered Research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1206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Traditional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Weeks searching databases 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Rewrite draft 4–5 times from scratch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Submit and hope for the best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08760"/>
            <a:ext cx="51206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AI-Assisted (Dynamo 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Research question to outline in 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Draft section-by-section with AI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Verify citations before submission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10972800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50208"/>
            <a:ext cx="10607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B308"/>
                </a:solidFill>
                <a:latin typeface="Arial"/>
              </a:rPr>
              <a:t>Time saved: weeks of manual effort reduced to focused, structured sessions.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09160"/>
            <a:ext cx="10972800" cy="71323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7316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2E4B"/>
                </a:solidFill>
                <a:latin typeface="Arial"/>
              </a:rPr>
              <a:t>Example: "Draft the Introduction for a paper on AI adoption in higher education using a formal academic tone."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B2E4B"/>
                </a:solidFill>
                <a:latin typeface="Arial"/>
              </a:rPr>
              <a:t>Write Your Paper Faster Without Cutting Corners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1206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Old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Stare at blank page for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  Rewrite entire sections when structure is wrong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455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  Citations added last — often wrong or missing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08760"/>
            <a:ext cx="51206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With Dynamo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1. Define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786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2. Generate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14553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3. Draft section-by-section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31920"/>
            <a:ext cx="10972800" cy="71323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9592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2E4B"/>
                </a:solidFill>
                <a:latin typeface="Arial"/>
              </a:rPr>
              <a:t>Example Prompt: "Draft the Introduction for a paper on AI adoption in higher education using a formal academic tone."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The 5-Step Research Writing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97863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Define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Clarify your research question and scope before writing a single word.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7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70047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10710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7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Generate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7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AI builds a logical outline — introduction, methods, discussion, conclusion.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82894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82894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23557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4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Draft Strategically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74334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Write section-by-section with AI assistance, maintaining your academic voice.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95741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5741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36404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1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Verify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1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Cross-check claims against real papers and sources. Validate every fact.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8588" y="1600200"/>
            <a:ext cx="2084831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08588" y="1600200"/>
            <a:ext cx="2084831" cy="5029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49251" y="1719072"/>
            <a:ext cx="603504" cy="603504"/>
          </a:xfrm>
          <a:prstGeom prst="ellipse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28" y="2468880"/>
            <a:ext cx="19019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2E4B"/>
                </a:solidFill>
                <a:latin typeface="Arial"/>
              </a:rPr>
              <a:t>Refine and Humanize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0028" y="2971800"/>
            <a:ext cx="19019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B5563"/>
                </a:solidFill>
                <a:latin typeface="Arial"/>
              </a:rPr>
              <a:t>Add your expertise, insights, and perspective. Make it genuinely yours.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77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This framework applies to journal articles, conference papers, theses, and research reports.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   |   Audience Poll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74320"/>
            <a:ext cx="2377440" cy="3474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B2E4B"/>
                </a:solidFill>
                <a:latin typeface="Arial"/>
              </a:rPr>
              <a:t>AUDIENCE POLL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Which step of the 5-Step Framework do you struggle with most?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6576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A.  Defining a clear research objective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44952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6382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B.  Structuring the paper logically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9624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6849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C.  Actually drafting — getting words on the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40280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591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D.  Verifying sources and citations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044952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16382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E.  Making it sound like me, not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623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Arial"/>
              </a:rPr>
              <a:t>Use Mentimeter or Slido — show live results on screen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Literature Reviews Without the Chaos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512064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Traditional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8483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  Download 50+ PDFs manually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78607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  Highlight and annotate by hand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072383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Arial"/>
              </a:rPr>
              <a:t>    Hours lost — weeks of effort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554480"/>
            <a:ext cx="51206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  The Smarter Way (Dynamo 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08483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Upload papers — Dynamo reads them 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578607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Extract key insights automatically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72383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Arial"/>
              </a:rPr>
              <a:t>  Build synthesis in minutes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10972800" cy="6400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13048"/>
            <a:ext cx="10698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2E4B"/>
                </a:solidFill>
                <a:latin typeface="Arial"/>
              </a:rPr>
              <a:t>Example: "Summarize the impact of AI on Student Learning Outcomes" — themes identified in seconds.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LITERATURE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See the Bigger Picture Faster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56032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B5563"/>
                </a:solidFill>
                <a:latin typeface="Arial"/>
              </a:rPr>
              <a:t>Topic: Impact of AI on Higher Education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377440" cy="4572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Theme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1965960"/>
            <a:ext cx="4114800" cy="4572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029968"/>
            <a:ext cx="3977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Key 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1965960"/>
            <a:ext cx="4572000" cy="4572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029968"/>
            <a:ext cx="4434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Implication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3774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423160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Student Engagement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423160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63240" y="2514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Increased participation in AI-assisted courses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40880" y="2423160"/>
            <a:ext cx="45720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2514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Interactive tools improve attendance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81528"/>
            <a:ext cx="237744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81528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7296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Learning Outcomes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3081528"/>
            <a:ext cx="411480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240" y="317296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Mixed evidence — strong in STEM, weaker in humanities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3081528"/>
            <a:ext cx="457200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78040" y="3172968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Context matters significantly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739896"/>
            <a:ext cx="237744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739896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831336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Personalization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3739896"/>
            <a:ext cx="41148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63240" y="383133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Positive impact on self-paced learning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40880" y="3739896"/>
            <a:ext cx="457200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383133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AI tutors adapt to student pace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98264"/>
            <a:ext cx="237744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398264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489704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Ethics &amp; Privacy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80" y="4398264"/>
            <a:ext cx="411480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063240" y="448970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Privacy concerns around data collection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4398264"/>
            <a:ext cx="4572000" cy="594360"/>
          </a:xfrm>
          <a:prstGeom prst="rect">
            <a:avLst/>
          </a:prstGeom>
          <a:solidFill>
            <a:srgbClr val="F0F4FA"/>
          </a:solidFill>
          <a:ln w="508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448970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Arial"/>
              </a:rPr>
              <a:t>Policy gaps need urgent attention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B2E4B"/>
                </a:solidFill>
                <a:latin typeface="Arial"/>
              </a:rPr>
              <a:t>Instead of reading dozens of papers separately, researchers immediately identify patterns and contradictions.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GAP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Finding Research Gaps Faster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56032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Gap Discovery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Known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140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23744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968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Emerging Trends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17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27248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Contradictions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62102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30752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0390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Understudied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224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34256"/>
            <a:ext cx="3474720" cy="493776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074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Methodological Gaps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8280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AB308"/>
                </a:solidFill>
                <a:latin typeface="Arial"/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37760"/>
            <a:ext cx="3474720" cy="493776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Research Gap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146304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Example: AI in Higher Education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1920240"/>
            <a:ext cx="3200400" cy="292608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9659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Existing Research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3774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Arial"/>
              </a:rPr>
              <a:t>+ Undergraduate students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28529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Arial"/>
              </a:rPr>
              <a:t>+ Student engagement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32841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Arial"/>
              </a:rPr>
              <a:t>+ Learning outcomes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80390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6A34A"/>
                </a:solidFill>
                <a:latin typeface="Arial"/>
              </a:rPr>
              <a:t>+ Developed countries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920240"/>
            <a:ext cx="3383280" cy="292608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19659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Arial"/>
              </a:rPr>
              <a:t>Missing Areas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23774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? Rural institutions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8529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? Faculty adoption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328416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? Long-term impacts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803904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  <a:latin typeface="Arial"/>
              </a:rPr>
              <a:t>? Developing countries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54880" y="4983480"/>
            <a:ext cx="6858000" cy="685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2040" y="5029200"/>
            <a:ext cx="6583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EAB308"/>
                </a:solidFill>
                <a:latin typeface="Arial"/>
              </a:rPr>
              <a:t>"How do faculty in developing countries adopt AI-assisted teaching?"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GAP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A Simple Formula for Discovering Novel Ideas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54480"/>
            <a:ext cx="2514600" cy="1828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664208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Known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2350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Arial"/>
              </a:rPr>
              <a:t>What existing research has established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35808" y="233172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AB308"/>
                </a:solidFill>
                <a:latin typeface="Arial"/>
              </a:rPr>
              <a:t>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554480"/>
            <a:ext cx="2514600" cy="1828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664208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Conflicting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2240280"/>
            <a:ext cx="2350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Arial"/>
              </a:rPr>
              <a:t>Where studies contradict each other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233172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AB308"/>
                </a:solidFill>
                <a:latin typeface="Arial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1304" y="1554480"/>
            <a:ext cx="2514600" cy="1828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664208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Understudied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240280"/>
            <a:ext cx="2350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Arial"/>
              </a:rPr>
              <a:t>Populations not yet represented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AB308"/>
                </a:solidFill>
                <a:latin typeface="Arial"/>
              </a:rPr>
              <a:t>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0496" y="1554480"/>
            <a:ext cx="2514600" cy="18288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1664208"/>
            <a:ext cx="2331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Emerging Trends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2240280"/>
            <a:ext cx="235000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Arial"/>
              </a:rPr>
              <a:t>New phenomena needing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5204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AB308"/>
                </a:solidFill>
                <a:latin typeface="Arial"/>
              </a:rPr>
              <a:t>=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160520"/>
            <a:ext cx="6263640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0" y="4224528"/>
            <a:ext cx="6263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B2E4B"/>
                </a:solidFill>
                <a:latin typeface="Arial"/>
              </a:rPr>
              <a:t>RESEARCH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9612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B5563"/>
                </a:solidFill>
                <a:latin typeface="Arial"/>
              </a:rPr>
              <a:t>Dynamo AI's Research Gap feature applies this formula automatically — surfacing opportunities you might have missed.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PRODUCT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AI Research Workflow in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7432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37360"/>
            <a:ext cx="411480" cy="4114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677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Upload Papers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PDF, DOCX, TXT — Dynamo reads everything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2679192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55848" y="16002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1737360"/>
            <a:ext cx="411480" cy="4114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93008" y="22677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Extract Themes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Automatic topic clustering and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98464" y="2679192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16002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0216" y="1737360"/>
            <a:ext cx="411480" cy="4114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0216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22677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Draft 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AI generates structured academic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679192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70264" y="1600200"/>
            <a:ext cx="26060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07424" y="1737360"/>
            <a:ext cx="411480" cy="4114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7424" y="1737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424" y="226771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Validate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07424" y="2788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Cross-check against real publications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206240"/>
            <a:ext cx="10972800" cy="658368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702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Result: A fully structured, cited, verified research draft — in a fraction of the 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Arial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749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AI Research
Assistant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2860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Chat directly with your research papers. Compare authors. Explore contradictions.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731520"/>
            <a:ext cx="7159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What you can do: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23444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2588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Chat with PDFs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Upload any paper and ask questions in plain language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33172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33172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Compare Authors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See where researchers agree, disagree, and contradict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42900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342900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52044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Extract Key Arguments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8620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Pull the core claims from any document instantly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52628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452628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61772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Build Literature 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8348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Organize findings across multiple papers visually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AI Content Detector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56032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Arial"/>
              </a:rPr>
              <a:t>Know exactly how AI-generated your writing looks before you submit.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3840480" cy="29260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AB308"/>
                </a:solidFill>
                <a:latin typeface="Arial"/>
              </a:rPr>
              <a:t>AI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3840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FFFFFF"/>
                </a:solidFill>
                <a:latin typeface="Arial"/>
              </a:rPr>
              <a:t>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77639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Arial"/>
              </a:rPr>
              <a:t>LOW AI PROBABILITY — SAFE TO SUBMIT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874519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Built for academic integrity: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331720"/>
            <a:ext cx="6949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46320" y="2331720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10912" y="2386584"/>
            <a:ext cx="6693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Score Meter 0–100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2642616"/>
            <a:ext cx="6693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Arial"/>
              </a:rPr>
              <a:t>Instant visual probability of AI-generation in your text.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017520"/>
            <a:ext cx="6949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3017520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10912" y="3072384"/>
            <a:ext cx="6693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Writing Pattern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10912" y="3328416"/>
            <a:ext cx="6693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Arial"/>
              </a:rPr>
              <a:t>Flags unnaturally uniform sentences — a common AI signal.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3703320"/>
            <a:ext cx="6949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3703320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3758184"/>
            <a:ext cx="6693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Plagiarism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0912" y="4014216"/>
            <a:ext cx="6693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Arial"/>
              </a:rPr>
              <a:t>Cross-checks web sources and academic paper databases.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389120"/>
            <a:ext cx="6949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4389120"/>
            <a:ext cx="64008" cy="59436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10912" y="4443984"/>
            <a:ext cx="66934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2E4B"/>
                </a:solidFill>
                <a:latin typeface="Arial"/>
              </a:rPr>
              <a:t>Actionable Highlights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0912" y="4700016"/>
            <a:ext cx="66934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B5563"/>
                </a:solidFill>
                <a:latin typeface="Arial"/>
              </a:rPr>
              <a:t>Exact sentences flagged so you know what to rewrite.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B308"/>
                </a:solidFill>
                <a:latin typeface="Arial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3749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Citation
Checker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22860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749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  <a:latin typeface="Arial"/>
              </a:rPr>
              <a:t>Fix missing, broken, and unverified references before they cost you a rejection.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731520"/>
            <a:ext cx="7159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What it checks: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23444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23444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32588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Missing Citations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69164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Identifies claims made without supporting references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33172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33172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42316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Broken References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78892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Flags citations that can't be verified in academic databases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42900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46320" y="342900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352044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Format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88620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Checks APA, MLA, Chicago, Harvard compliance automatically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526280"/>
            <a:ext cx="7159752" cy="914400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4526280"/>
            <a:ext cx="64008" cy="9144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0" y="4617720"/>
            <a:ext cx="6885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2E4B"/>
                </a:solidFill>
                <a:latin typeface="Arial"/>
              </a:rPr>
              <a:t>DOI Verification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983480"/>
            <a:ext cx="68854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Confirms each paper actually exists and is retrievable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   |   Audience Poll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74320"/>
            <a:ext cx="2377440" cy="3474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B2E4B"/>
                </a:solidFill>
                <a:latin typeface="Arial"/>
              </a:rPr>
              <a:t>AUDIENCE POLL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Have you ever worried about submitting writing that contained AI-generated text?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6576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A.  Yes — and it caused a problem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44952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6382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B.  Yes — I caught it before submitting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9624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6849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C.  Not yet, but I worry about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40280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591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D.  I don't use AI in my 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23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Arial"/>
              </a:rPr>
              <a:t>Use Mentimeter or Slido — show live results on screen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B2E4B"/>
                </a:solidFill>
                <a:latin typeface="Arial"/>
              </a:rPr>
              <a:t>Research Watcher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237744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447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Arial"/>
              </a:rPr>
              <a:t>Never miss a new paper in your field — without manual searching.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65960"/>
            <a:ext cx="2606040" cy="17373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26060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214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B308"/>
                </a:solidFill>
                <a:latin typeface="Arial"/>
              </a:rPr>
              <a:t>1. Set Topics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5176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Arial"/>
              </a:rPr>
              <a:t>Add your research keywords or author names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6517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965960"/>
            <a:ext cx="2606040" cy="17373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965960"/>
            <a:ext cx="26060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1214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B308"/>
                </a:solidFill>
                <a:latin typeface="Arial"/>
              </a:rPr>
              <a:t>2.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5176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Arial"/>
              </a:rPr>
              <a:t>Dynamo watches 100M+ papers 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2" y="26517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965960"/>
            <a:ext cx="2606040" cy="17373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965960"/>
            <a:ext cx="26060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1214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B308"/>
                </a:solidFill>
                <a:latin typeface="Arial"/>
              </a:rPr>
              <a:t>3. Get Alerted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65176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Arial"/>
              </a:rPr>
              <a:t>Email or in-app notification when new work appears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9952" y="265176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B308"/>
                </a:solidFill>
                <a:latin typeface="Arial"/>
              </a:rPr>
              <a:t>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15400" y="1965960"/>
            <a:ext cx="2606040" cy="173736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1965960"/>
            <a:ext cx="2606040" cy="54864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12140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AB308"/>
                </a:solidFill>
                <a:latin typeface="Arial"/>
              </a:rPr>
              <a:t>4. Stay Current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651760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Arial"/>
              </a:rPr>
              <a:t>Weekly digest: curated summary of what is new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931920"/>
            <a:ext cx="10972800" cy="804672"/>
          </a:xfrm>
          <a:prstGeom prst="rect">
            <a:avLst/>
          </a:prstGeom>
          <a:solidFill>
            <a:srgbClr val="F0F4FA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3931920"/>
            <a:ext cx="64008" cy="8046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2336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2E4B"/>
                </a:solidFill>
                <a:latin typeface="Arial"/>
              </a:rPr>
              <a:t>Example Alert: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02336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B2E4B"/>
                </a:solidFill>
                <a:latin typeface="Arial"/>
              </a:rPr>
              <a:t>"3 new papers published this week matching: AI-assisted teaching in developing countries"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   |  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17352" y="0"/>
            <a:ext cx="1371600" cy="13716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94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EAB308"/>
                </a:solidFill>
                <a:latin typeface="Arial"/>
              </a:rP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See Dynamo AI in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148840"/>
            <a:ext cx="47548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AB308"/>
                </a:solidFill>
                <a:latin typeface="Arial"/>
              </a:rPr>
              <a:t>3-step live walkthrough: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834640"/>
            <a:ext cx="3108960" cy="1463040"/>
          </a:xfrm>
          <a:prstGeom prst="rect">
            <a:avLst/>
          </a:prstGeom>
          <a:solidFill>
            <a:srgbClr val="254063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907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Arial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2186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Upload a paper + ask a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03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Arial"/>
              </a:rPr>
              <a:t>Show: Chat with PDF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26280" y="2834640"/>
            <a:ext cx="3108960" cy="1463040"/>
          </a:xfrm>
          <a:prstGeom prst="rect">
            <a:avLst/>
          </a:prstGeom>
          <a:solidFill>
            <a:srgbClr val="254063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907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Arial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2186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Run the Research Gap finder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03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Arial"/>
              </a:rPr>
              <a:t>Show: Gap Discovery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834640"/>
            <a:ext cx="3108960" cy="1463040"/>
          </a:xfrm>
          <a:prstGeom prst="rect">
            <a:avLst/>
          </a:prstGeom>
          <a:solidFill>
            <a:srgbClr val="254063"/>
          </a:solidFill>
          <a:ln w="1016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907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Arial"/>
              </a:rPr>
              <a:t>Step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186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Draft an Introduction 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703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Arial"/>
              </a:rPr>
              <a:t>Show: AI Writing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AB308"/>
                </a:solidFill>
                <a:latin typeface="Arial"/>
              </a:rPr>
              <a:t>app.dynamoai.in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   |   Audience Poll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74320"/>
            <a:ext cx="2377440" cy="347472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1B2E4B"/>
                </a:solidFill>
                <a:latin typeface="Arial"/>
              </a:rPr>
              <a:t>AUDIENCE POLL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804672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Arial"/>
              </a:rPr>
              <a:t>What would make you most confident to try Dynamo AI for your research?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365760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A.  A live demo on a real topic (just happened!)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44952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63824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B.  Reviews from researchers like 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49624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68496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C.  Free trial — no credit card required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240280"/>
            <a:ext cx="5394960" cy="658368"/>
          </a:xfrm>
          <a:prstGeom prst="rect">
            <a:avLst/>
          </a:prstGeom>
          <a:solidFill>
            <a:srgbClr val="254063"/>
          </a:solidFill>
          <a:ln w="762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59152"/>
            <a:ext cx="5120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D.  Recommendation from my supervisor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623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94A3B8"/>
                </a:solidFill>
                <a:latin typeface="Arial"/>
              </a:rPr>
              <a:t>Use Mentimeter or Slido — show live results on screen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9857232" y="201168"/>
            <a:ext cx="2011680" cy="2743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41148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B2E4B"/>
                </a:solidFill>
                <a:latin typeface="Arial"/>
              </a:rPr>
              <a:t>We Are Building Dynamo AI
With Researchers Like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292608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Arial"/>
              </a:rPr>
              <a:t>Your feedback shapes every feature we build.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43200"/>
            <a:ext cx="73152" cy="10972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Your Voice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246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Every piece of feedback directly influences our product roadmap.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74320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743200"/>
            <a:ext cx="73152" cy="10972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8346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Real Research. Real Problems.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246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We focus on what actually slows researchers down.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2336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23360"/>
            <a:ext cx="73152" cy="10972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Built for Indian Academia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526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Designed with local researcher workflows and goals.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51206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23360"/>
            <a:ext cx="73152" cy="109728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E4B"/>
                </a:solidFill>
                <a:latin typeface="Arial"/>
              </a:rPr>
              <a:t>Continuous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52628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Arial"/>
              </a:rPr>
              <a:t>Weekly updates based on what our validation community tells us.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B3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88952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6345936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Arial"/>
              </a:rPr>
              <a:t>Dynamo AI   |   Webinar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86032" y="63825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B5563"/>
                </a:solidFill>
                <a:latin typeface="Arial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2E4B"/>
                </a:solidFill>
                <a:latin typeface="Arial"/>
              </a:rPr>
              <a:t>EXCLUSIVE FOR WEBINAR ATTENDEES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1B2E4B"/>
                </a:solidFill>
                <a:latin typeface="Arial"/>
              </a:rPr>
              <a:t>14 Days of Dynamo AI Pro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B2E4B"/>
                </a:solidFill>
                <a:latin typeface="Arial"/>
              </a:rPr>
              <a:t>Completely Free — No Strings Attached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788920"/>
            <a:ext cx="4846320" cy="4572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20240" y="3154680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300 AI Research Messages /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3154680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0175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Deep Research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0240" y="3685032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0240" y="3547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Full Literature Review &amp; Gap Discovery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685032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35478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AI Detector + Plagiarism Checker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4215384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Citation Checker + Research Watcher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4215384"/>
            <a:ext cx="164592" cy="164592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407822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E4B"/>
                </a:solidFill>
                <a:latin typeface="Arial"/>
              </a:rPr>
              <a:t>      Priority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59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2E4B"/>
                </a:solidFill>
                <a:latin typeface="Arial"/>
              </a:rPr>
              <a:t>How to claim: Fill out the feedback form at the end of this session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B2E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ynam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55448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B308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4526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From Research
Overwhelm to
Research Confidence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617720"/>
            <a:ext cx="2377440" cy="4572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Arial"/>
              </a:rPr>
              <a:t>Anish Krisna
Founder, Dynamo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731520"/>
            <a:ext cx="6382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2E4B"/>
                </a:solidFill>
                <a:latin typeface="Arial"/>
              </a:rPr>
              <a:t>What happens next?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261872"/>
            <a:ext cx="2560320" cy="41148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23560" y="14173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4630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Fill out the feedback form in the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1031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1488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Receive your Pro invite code privately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7889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8346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Visit app.dynamoai.in and sign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0" y="34747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35204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Enter your code — start your 14-day Pro trial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416052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B308"/>
                </a:solidFill>
                <a:latin typeface="Arial"/>
              </a:rPr>
              <a:t>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206240"/>
            <a:ext cx="5971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Arial"/>
              </a:rPr>
              <a:t>Share your experience — help us build better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5440680"/>
            <a:ext cx="6382512" cy="566928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5486400"/>
            <a:ext cx="61996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2E4B"/>
                </a:solidFill>
                <a:latin typeface="Arial"/>
              </a:rPr>
              <a:t>app.dynamoai.in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