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743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🇮🇳  MADE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560320" cy="301752"/>
          </a:xfrm>
          <a:prstGeom prst="rect">
            <a:avLst/>
          </a:prstGeom>
          <a:solidFill>
            <a:srgbClr val="1A14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INCUBATOR PITCH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45720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0" b="1">
                <a:solidFill>
                  <a:srgbClr val="FFFFFF"/>
                </a:solidFill>
                <a:latin typeface="Calibri"/>
              </a:rPr>
              <a:t>Dynamo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0116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0" b="1">
                <a:solidFill>
                  <a:srgbClr val="FFC107"/>
                </a:solidFill>
                <a:latin typeface="Calibri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Research Operating System for Academia.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Calibri"/>
              </a:rPr>
              <a:t>RESEARCH  ·  WRITE  ·  CITE  ·  PRESENT  —  ALL IN ONE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Built for researchers, scholars and educators.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4572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FOUNDER: ANISH KRISNA S  ·  MS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9224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47218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380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Academic work is broken.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8229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Today's researchers juggle a dozen disconnected tools just to complete a single piece of academic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973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💬 ChatGPT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General AI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42316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45973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🔎 Google Scholar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8892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Paper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42316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45973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📚 Research DBs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JSTOR · Scopus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3697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📋 Citation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Zotero · Mendeley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320040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323697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📝 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56616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Writing &amp; drafts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20040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23697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📊 PowerPoint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56616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Presentations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3317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THE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606040"/>
            <a:ext cx="4572000" cy="2057400"/>
          </a:xfrm>
          <a:prstGeom prst="rect">
            <a:avLst/>
          </a:prstGeom>
          <a:solidFill>
            <a:srgbClr val="1410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6974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Context switching across 6+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136392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Lost productivity &amp; wasted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575304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Repeated effort &amp; duplicate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014216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Fragmented, disconnected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880360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COST OF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hidden tax on every researcher.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Fragmented tools don't just slow researchers down — they steal focus from the actual work that matters.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Context Switching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Constantly jumping between 6+ tools breaks flow and deep thinking.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Manual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Citation rules, paper formatting, and references rewritten by hand.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Fragmented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Findings scattered across tabs, docs, and offline notebooks.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Lost Time, Lost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Time spent stitching tools together — instead of producing insight.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02368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Duplicated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Same searches, same summaries, same formatting — across every project.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60720"/>
            <a:ext cx="11430000" cy="68580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⚡  The real cost isn't just hours — it's the insight, ideas and research output lost to busywork.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47218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380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INTRODUCING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One platform. One continuous academic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Every step of your research — from discovery to final presentation — happens in one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🔬  Discover relevant papers and evidence instantly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Search across web + Semantic Scholar in seconds — no tab switching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2316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532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📖  Identify insights, patterns and research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1752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Analyse and summarise papers automatically, surface what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532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✍️  Draft academic content with structured assistance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Write with DeepThink AI — built for academic rigour and depth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📋  Generate publication-ready citations automatically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2628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APA, MLA, IEEE, Chicago, Harvard, Vancouver — formatted on demand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93192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4164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📊  Convert research into presentations, mind maps and flowcharts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Go from notes to polished deck or visual in minutes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04164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🧠  Preserve research context across documents and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52628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AI Memory + Document Library keep your work accessible —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  <a:latin typeface="Calibri"/>
              </a:rPr>
              <a:t>20+ AI capabilities  ·  3 AI model tiers  ·  6 citation formats  ·  Built for researchers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578608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48716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DYNAMO AI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One continuous workflow — start to finish.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No more tab-switching. From research question to final deck — every step in one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1463040" cy="237744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Define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9112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50592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2464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23944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3944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3904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1224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85816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97296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97296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6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70648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05872" y="2468880"/>
            <a:ext cx="1463040" cy="237744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17352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17352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2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2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5212080"/>
            <a:ext cx="6675120" cy="411480"/>
          </a:xfrm>
          <a:prstGeom prst="rect">
            <a:avLst/>
          </a:prstGeom>
          <a:solidFill>
            <a:srgbClr val="1A14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5239512"/>
            <a:ext cx="66751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⚡  Each step removes friction. The full workflow lives inside a single workspace.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PRODUCT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679191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587751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PRODUCT · THE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workspace built for thinking.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Clean, chat-first interface. Modes for every research task. Built and live today at app.dynamoai.in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6858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685800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667512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13" name="Picture 12" descr="Screenshot_2026-05-21_at_9.07.27_PM_17793784448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78608"/>
            <a:ext cx="6858000" cy="29992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5577840"/>
            <a:ext cx="685800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614416"/>
            <a:ext cx="663854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Main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815584"/>
            <a:ext cx="663854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Chat-first interface · Recents · Quick Tools · Persistent memory across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77440"/>
            <a:ext cx="4389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377440"/>
            <a:ext cx="438912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395728"/>
            <a:ext cx="42062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0" name="Picture 19" descr="Screenshot_2026-05-21_at_9.08.49_PM_17793784448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578608"/>
            <a:ext cx="4389120" cy="10789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06640" y="3657600"/>
            <a:ext cx="43891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3694176"/>
            <a:ext cx="416966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Mode 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3895344"/>
            <a:ext cx="416966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Fast · Research (Plus) · DeepThink (Pro)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297680"/>
            <a:ext cx="4389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4297680"/>
            <a:ext cx="438912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4315968"/>
            <a:ext cx="42062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7" name="Picture 26" descr="Screenshot_2026-05-21_at_9.08.58_PM_17793784448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4498848"/>
            <a:ext cx="4389120" cy="107899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406640" y="5577840"/>
            <a:ext cx="43891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5614416"/>
            <a:ext cx="416966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Tools Menu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5815584"/>
            <a:ext cx="416966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Study guides · Radio mode · Image, Slides, Mindmaps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868680"/>
            <a:ext cx="1737360" cy="274320"/>
          </a:xfrm>
          <a:prstGeom prst="rect">
            <a:avLst/>
          </a:prstGeom>
          <a:solidFill>
            <a:srgbClr val="0528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886968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22C55E"/>
                </a:solidFill>
                <a:latin typeface="Calibri"/>
              </a:rPr>
              <a:t>● LIVE IN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  <a:latin typeface="Calibri"/>
              </a:rPr>
              <a:t>Try it live · app.dynamoai.in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PRODUCT ·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3685032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3593591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PRODUCT · PERSISTENT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It remembers. So you don't have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Your research context persists across sessions, documents and projects.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356616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33832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13" name="Picture 12" descr="Screenshot_2026-05-21_at_9.08.16_PM_1779378444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78608"/>
            <a:ext cx="3566160" cy="29992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5577840"/>
            <a:ext cx="356616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614416"/>
            <a:ext cx="33467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User Profile &amp; Quotas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815584"/>
            <a:ext cx="334670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Plan tier · Chat / Image / Video quotas · One-click upgrade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37744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2377440"/>
            <a:ext cx="384048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395728"/>
            <a:ext cx="3657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0" name="Picture 19" descr="Screenshot_2026-05-21_at_9.08.27_PM_1779378444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578608"/>
            <a:ext cx="3840480" cy="2999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160520" y="5577840"/>
            <a:ext cx="384048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5614416"/>
            <a:ext cx="362102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AI Memory — Research Context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5815584"/>
            <a:ext cx="362102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remembers your topics, goals &amp; interests across every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3774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377440"/>
            <a:ext cx="356616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395728"/>
            <a:ext cx="33832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7" name="Picture 26" descr="Screenshot_2026-05-21_at_9.08.38_PM_17793784448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578608"/>
            <a:ext cx="3566160" cy="29992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229600" y="5577840"/>
            <a:ext cx="356616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5614416"/>
            <a:ext cx="33467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Document Library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5815584"/>
            <a:ext cx="334670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Access all research materials in one place — summaries injected into every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Calibri"/>
              </a:rPr>
              <a:t>Your research context remains available across sessions, projects and uploaded documents — automatically.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08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578608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48716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RESEARCHER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same workflow. A completely different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0972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Dynamo AI doesn't add another tool. It replaces the entire fragmented workflow with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303520" cy="4160520"/>
          </a:xfrm>
          <a:prstGeom prst="rect">
            <a:avLst/>
          </a:prstGeom>
          <a:solidFill>
            <a:srgbClr val="14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50292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Calibri"/>
              </a:rPr>
              <a:t>✗  WITHOUT DYNAMO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0292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Multiple tools. Fragmented workflow.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4937760" cy="438912"/>
          </a:xfrm>
          <a:prstGeom prst="rect">
            <a:avLst/>
          </a:prstGeom>
          <a:solidFill>
            <a:srgbClr val="201010"/>
          </a:solidFill>
          <a:ln w="12700">
            <a:solidFill>
              <a:srgbClr val="55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45536"/>
            <a:ext cx="2011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→  Search Papers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46704"/>
            <a:ext cx="2743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Calibri"/>
              </a:rPr>
              <a:t>Google Scholar,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6616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773333"/>
                </a:solidFill>
                <a:latin typeface="Calibri"/>
              </a:rPr>
              <a:t>↕  switch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39312"/>
            <a:ext cx="4937760" cy="438912"/>
          </a:xfrm>
          <a:prstGeom prst="rect">
            <a:avLst/>
          </a:prstGeom>
          <a:solidFill>
            <a:srgbClr val="201010"/>
          </a:solidFill>
          <a:ln w="12700">
            <a:solidFill>
              <a:srgbClr val="55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75888"/>
            <a:ext cx="2011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→  Take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77056"/>
            <a:ext cx="2743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Calibri"/>
              </a:rPr>
              <a:t>Word, Notion, sticky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096512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773333"/>
                </a:solidFill>
                <a:latin typeface="Calibri"/>
              </a:rPr>
              <a:t>↕  switch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9663"/>
            <a:ext cx="4937760" cy="438912"/>
          </a:xfrm>
          <a:prstGeom prst="rect">
            <a:avLst/>
          </a:prstGeom>
          <a:solidFill>
            <a:srgbClr val="201010"/>
          </a:solidFill>
          <a:ln w="12700">
            <a:solidFill>
              <a:srgbClr val="55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206239"/>
            <a:ext cx="2011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→  Write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07407"/>
            <a:ext cx="2743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Calibri"/>
              </a:rPr>
              <a:t>MS Word /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26863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773333"/>
                </a:solidFill>
                <a:latin typeface="Calibri"/>
              </a:rPr>
              <a:t>↕  switch 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00016"/>
            <a:ext cx="4937760" cy="438912"/>
          </a:xfrm>
          <a:prstGeom prst="rect">
            <a:avLst/>
          </a:prstGeom>
          <a:solidFill>
            <a:srgbClr val="201010"/>
          </a:solidFill>
          <a:ln w="12700">
            <a:solidFill>
              <a:srgbClr val="55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736592"/>
            <a:ext cx="2011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→  Generate Citations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937760"/>
            <a:ext cx="2743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Calibri"/>
              </a:rPr>
              <a:t>Zotero / Mendeley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157216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773333"/>
                </a:solidFill>
                <a:latin typeface="Calibri"/>
              </a:rPr>
              <a:t>↕  switch 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30368"/>
            <a:ext cx="4937760" cy="438912"/>
          </a:xfrm>
          <a:prstGeom prst="rect">
            <a:avLst/>
          </a:prstGeom>
          <a:solidFill>
            <a:srgbClr val="201010"/>
          </a:solidFill>
          <a:ln w="12700">
            <a:solidFill>
              <a:srgbClr val="55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266944"/>
            <a:ext cx="2011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→  Create Slides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68112"/>
            <a:ext cx="2743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Calibri"/>
              </a:rPr>
              <a:t>PowerPoint / Canva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687568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773333"/>
                </a:solidFill>
                <a:latin typeface="Calibri"/>
              </a:rPr>
              <a:t>↕  switch 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4937760" cy="438912"/>
          </a:xfrm>
          <a:prstGeom prst="rect">
            <a:avLst/>
          </a:prstGeom>
          <a:solidFill>
            <a:srgbClr val="201010"/>
          </a:solidFill>
          <a:ln w="12700">
            <a:solidFill>
              <a:srgbClr val="55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797296"/>
            <a:ext cx="2011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→  Store Documents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998464"/>
            <a:ext cx="2743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Calibri"/>
              </a:rPr>
              <a:t>Drive / email to self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114800"/>
            <a:ext cx="731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C107"/>
                </a:solidFill>
                <a:latin typeface="Calibri"/>
              </a:rPr>
              <a:t>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2331720"/>
            <a:ext cx="5303520" cy="4160520"/>
          </a:xfrm>
          <a:prstGeom prst="rect">
            <a:avLst/>
          </a:prstGeom>
          <a:solidFill>
            <a:srgbClr val="06180C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468880"/>
            <a:ext cx="50292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  <a:latin typeface="Calibri"/>
              </a:rPr>
              <a:t>✓  WITH DYNAMO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743200"/>
            <a:ext cx="50292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Single platform. Single workflow.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108960"/>
            <a:ext cx="4937760" cy="438912"/>
          </a:xfrm>
          <a:prstGeom prst="rect">
            <a:avLst/>
          </a:prstGeom>
          <a:solidFill>
            <a:srgbClr val="082210"/>
          </a:solidFill>
          <a:ln w="12700">
            <a:solidFill>
              <a:srgbClr val="185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7728" y="3145536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✓  Discover evidence-backed papers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3346704"/>
            <a:ext cx="29260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  <a:latin typeface="Calibri"/>
              </a:rPr>
              <a:t>Evidence-backed research assistance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639312"/>
            <a:ext cx="4937760" cy="438912"/>
          </a:xfrm>
          <a:prstGeom prst="rect">
            <a:avLst/>
          </a:prstGeom>
          <a:solidFill>
            <a:srgbClr val="082210"/>
          </a:solidFill>
          <a:ln w="12700">
            <a:solidFill>
              <a:srgbClr val="185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67728" y="3675888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✓  Analyse &amp; take smart notes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3877056"/>
            <a:ext cx="29260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  <a:latin typeface="Calibri"/>
              </a:rPr>
              <a:t>Insights, gaps and summaries — instant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4169663"/>
            <a:ext cx="4937760" cy="438912"/>
          </a:xfrm>
          <a:prstGeom prst="rect">
            <a:avLst/>
          </a:prstGeom>
          <a:solidFill>
            <a:srgbClr val="082210"/>
          </a:solidFill>
          <a:ln w="12700">
            <a:solidFill>
              <a:srgbClr val="185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67728" y="4206239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✓  Draft academic content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4407407"/>
            <a:ext cx="29260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  <a:latin typeface="Calibri"/>
              </a:rPr>
              <a:t>Structured assistance with DeepThink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4700016"/>
            <a:ext cx="4937760" cy="438912"/>
          </a:xfrm>
          <a:prstGeom prst="rect">
            <a:avLst/>
          </a:prstGeom>
          <a:solidFill>
            <a:srgbClr val="082210"/>
          </a:solidFill>
          <a:ln w="12700">
            <a:solidFill>
              <a:srgbClr val="185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4736592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✓  Generate citations automatically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8" y="4937760"/>
            <a:ext cx="29260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  <a:latin typeface="Calibri"/>
              </a:rPr>
              <a:t>6 formats — APA, MLA, IEEE and more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5230368"/>
            <a:ext cx="4937760" cy="438912"/>
          </a:xfrm>
          <a:prstGeom prst="rect">
            <a:avLst/>
          </a:prstGeom>
          <a:solidFill>
            <a:srgbClr val="082210"/>
          </a:solidFill>
          <a:ln w="12700">
            <a:solidFill>
              <a:srgbClr val="185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7728" y="5266944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✓  Convert research to a deck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7728" y="5468112"/>
            <a:ext cx="29260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  <a:latin typeface="Calibri"/>
              </a:rPr>
              <a:t>Slides, mindmaps, flowcharts — in seconds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5760720"/>
            <a:ext cx="4937760" cy="438912"/>
          </a:xfrm>
          <a:prstGeom prst="rect">
            <a:avLst/>
          </a:prstGeom>
          <a:solidFill>
            <a:srgbClr val="082210"/>
          </a:solidFill>
          <a:ln w="12700">
            <a:solidFill>
              <a:srgbClr val="185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67728" y="5797296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✓  Store in Document Library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5998464"/>
            <a:ext cx="29260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22C55E"/>
                </a:solidFill>
                <a:latin typeface="Calibri"/>
              </a:rPr>
              <a:t>Access all research materials in one place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565392"/>
            <a:ext cx="11430000" cy="18288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83680"/>
            <a:ext cx="110642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C107"/>
                </a:solidFill>
                <a:latin typeface="Calibri"/>
              </a:rPr>
              <a:t>Dynamo AI is not another AI chatbot. It is the academic workflow platform where researchers do all their work.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WHY RESEARCHERS CHOOSE DYNAMO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09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3584448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349300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WHY RESEARCHERS CHOOSE DYNAMO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researchers choose Dynamo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Dynamo AI is not another AI chatbot. It is the academic workflow platform where researchers do all their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715000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42032"/>
            <a:ext cx="4709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Built for Academic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5394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Not a generic AI chat. Every feature — modes, citation engine, study guides — is shaped around how researchers actually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377440"/>
            <a:ext cx="5715000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42032"/>
            <a:ext cx="4709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Research → Write → Cite → 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394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The full academic pipeline lives inside a single workspace. Switching tools is the problem we exist to remove.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3749039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16552"/>
            <a:ext cx="274319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Academic Memory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342899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Research context remains available across sessions, projects and uploaded documents — automatically, without any manual effort.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251960"/>
            <a:ext cx="3749039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3891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416552"/>
            <a:ext cx="274319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Generate publication-ready citations automatically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83480"/>
            <a:ext cx="342899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6 academic citation formats, structured assistance, and evidence-backed research in one place.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251960"/>
            <a:ext cx="3749039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3891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👨‍🔬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416552"/>
            <a:ext cx="274319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Built by Someone Who Lived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83480"/>
            <a:ext cx="342899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Founder is a data scientist who built Dynamo to solve a workflow problem he experienced first-hand.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  <a:latin typeface="Calibri"/>
              </a:rPr>
              <a:t>We don't compete on AI capability. We compete on workflow ownership.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10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47802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COMPETITIVE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One workflow. Everyone else is a slice.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Other tools each solve a single piece of the research workflow. Dynamo AI brings them together in a single workspace.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384048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514600"/>
            <a:ext cx="3749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AAAABB"/>
                </a:solidFill>
                <a:latin typeface="Calibri"/>
              </a:rPr>
              <a:t>Researcher Outcome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23160"/>
            <a:ext cx="164592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514600"/>
            <a:ext cx="1554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ChatGPT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423160"/>
            <a:ext cx="164592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514600"/>
            <a:ext cx="1554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Consensus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423160"/>
            <a:ext cx="164592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2" y="2514600"/>
            <a:ext cx="1554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Jenni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423160"/>
            <a:ext cx="178308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2514600"/>
            <a:ext cx="169163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⚡ Dynamo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43784"/>
            <a:ext cx="38404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35224"/>
            <a:ext cx="37033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Find evidence from research papers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843784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907792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C107"/>
                </a:solidFill>
                <a:latin typeface="Calibri"/>
              </a:rPr>
              <a:t>~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843784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907792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843784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907792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843784"/>
            <a:ext cx="17830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907792"/>
            <a:ext cx="1783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64408"/>
            <a:ext cx="38404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55848"/>
            <a:ext cx="37033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Write academic research papers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264408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3328416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264408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328416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3264408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3328416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64408"/>
            <a:ext cx="17830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328416"/>
            <a:ext cx="1783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685032"/>
            <a:ext cx="38404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776472"/>
            <a:ext cx="37033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Manage research knowledge &amp; memory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85032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749040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3685032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3749040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0" y="3685032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3749040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3685032"/>
            <a:ext cx="17830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3749040"/>
            <a:ext cx="1783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105656"/>
            <a:ext cx="38404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197096"/>
            <a:ext cx="37033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Generate formatted citations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105656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4169664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C107"/>
                </a:solidFill>
                <a:latin typeface="Calibri"/>
              </a:rPr>
              <a:t>~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4105656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60" y="4169664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80" y="4105656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0" y="4169664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4105656"/>
            <a:ext cx="17830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0" y="4169664"/>
            <a:ext cx="1783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526280"/>
            <a:ext cx="38404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617720"/>
            <a:ext cx="37033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Create presentations &amp; visuals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06240" y="4526280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459028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0" y="4526280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0" y="459028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80" y="4526280"/>
            <a:ext cx="164592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0" y="459028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0" y="4526280"/>
            <a:ext cx="17830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0" y="4590288"/>
            <a:ext cx="1783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946904"/>
            <a:ext cx="38404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038344"/>
            <a:ext cx="37033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Complete research workflow end-to-end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4946904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06240" y="5010912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52160" y="4946904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52160" y="5010912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98080" y="4946904"/>
            <a:ext cx="164592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0" y="5010912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0" y="4946904"/>
            <a:ext cx="17830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0" y="5010912"/>
            <a:ext cx="1783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806440"/>
            <a:ext cx="11430000" cy="59436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💡  Dynamo AI is the only platform where a researcher can complete their entire workflow — without switching tools.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11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69848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97840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Three forces. One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Academia is at an inflection point. Researchers need integrated AI tools — and they need them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4747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604503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Research Output is Exploding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C107"/>
                </a:solidFill>
                <a:latin typeface="Calibri"/>
              </a:rPr>
              <a:t>Exponential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Global research volume is growing exponentially. Manual literature reviews don't scale to the pace of modern science.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377440"/>
            <a:ext cx="3749039" cy="34747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603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5603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604503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4612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AI Adoption is Mainstream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60520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C107"/>
                </a:solidFill>
                <a:latin typeface="Calibri"/>
              </a:rPr>
              <a:t>Already in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634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AI tools are now part of daily academic life. But most are generic — none are designed around how researchers actually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377440"/>
            <a:ext cx="3749039" cy="34747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5603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25603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604503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4612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Workflow Tools are Demanded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160520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C107"/>
                </a:solidFill>
                <a:latin typeface="Calibri"/>
              </a:rPr>
              <a:t>Integration is the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634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Researchers are vocally tired of stitching 6+ tools together. The next winner won't add another chatbot — it'll consolidate the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The market is ready. Researchers want integrated, intelligent tools — built for them, in India.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348386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33924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TARGET MARKET · TAM / SAM / 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Big market. Sharp entry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Start with the highest-pain users. Expand outward to institutions.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731520" cy="320040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Researchers, educators and institutions across India using digital academic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AAAABB"/>
                </a:solidFill>
                <a:latin typeface="Calibri"/>
              </a:rPr>
              <a:t>India-wide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academic research &amp; education sector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3749039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560320"/>
            <a:ext cx="731520" cy="320040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Serviceable Available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3756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India's 200K+ PhD scholars + 1.5M professors &amp; academic researchers.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4340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1.7M+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25780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active researchers &amp; faculty (India)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377440"/>
            <a:ext cx="3749039" cy="3749039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2560320"/>
            <a:ext cx="731520" cy="320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  <a:latin typeface="Calibri"/>
              </a:rPr>
              <a:t>SOM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33756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First wedge: 10,000 paying scholars &amp; researchers in 24 months.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4340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C107"/>
                </a:solidFill>
                <a:latin typeface="Calibri"/>
              </a:rPr>
              <a:t>10K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25780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users · ₹4–10 Cr ARR target by Year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  <a:latin typeface="Calibri"/>
              </a:rPr>
              <a:t>Wedge strategy: dominate PhD scholars first → expand to professors → institutional contracts.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773936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68249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Predictable revenue. Scalable margins.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Subscription SaaS today. Institutional licensing tomorrow. INR-priced for the Indian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3749039" cy="3794760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Free Forever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3474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₹0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108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  <a:latin typeface="Calibri"/>
              </a:rPr>
              <a:t>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Acquisition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10 AI chats /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07408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Fast Mode (Gemini Flash)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Web search + voice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75504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AI Detector &amp; Plagiarism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595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Mindmaps &amp; Flowcharts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331720"/>
            <a:ext cx="3749039" cy="379476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167128"/>
            <a:ext cx="173736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167128"/>
            <a:ext cx="17373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MOST POPULAR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4688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Plus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34640"/>
            <a:ext cx="3474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₹399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108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  <a:latin typeface="Calibri"/>
              </a:rPr>
              <a:t>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576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For scholars &amp; researchers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2336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Unlimited AI chats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07408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Research Mode (3 models)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791456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6-Format Citation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175504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Document 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5595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Find Research Gaps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331720"/>
            <a:ext cx="3749039" cy="3794760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4688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834640"/>
            <a:ext cx="3474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₹999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108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  <a:latin typeface="Calibri"/>
              </a:rPr>
              <a:t>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6576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Power users &amp; professors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2336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Everything in Plus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407408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DeepThink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791456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Deep Research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75504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Unlimited PDF uploads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5595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Advanced academic workflows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309360"/>
            <a:ext cx="5669280" cy="41148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38251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C107"/>
                </a:solidFill>
                <a:latin typeface="Calibri"/>
              </a:rPr>
              <a:t>🏛️  FUTURE · YEAR 2  —  Institutional Licensing: ₹5L–50L / year per university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6309360"/>
            <a:ext cx="5669280" cy="41148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638251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C107"/>
                </a:solidFill>
                <a:latin typeface="Calibri"/>
              </a:rPr>
              <a:t>🤝  FUTURE · YEAR 2  —  University Partnerships: Embedded into curriculum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97510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8836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EARLY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Real users. Real 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We're live. We have users. They're using it. Here's where we are and where we're heading.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486400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● TODAY ·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91693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[X]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1927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Beta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88036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291693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31927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MVP shipped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73989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14223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AI features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70332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373989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[X]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14223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Professor endorsements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5166360" cy="822960"/>
          </a:xfrm>
          <a:prstGeom prst="rect">
            <a:avLst/>
          </a:prstGeom>
          <a:solidFill>
            <a:srgbClr val="080C1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"[ Add real user testimonial here ]"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21808"/>
            <a:ext cx="4937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— [ Add attribution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77440"/>
            <a:ext cx="5577840" cy="3749039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4871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Calibri"/>
              </a:rPr>
              <a:t>● NEXT 90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88036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88036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Beta users onboarded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72968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Scaling from launch to active researchers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630168"/>
            <a:ext cx="5303520" cy="18288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68503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685032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Video testimonials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97764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Professor + PhD scholar validation videos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434840"/>
            <a:ext cx="5303520" cy="18288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489704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489704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Paid users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782312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First ₹1L+ MRR from organic conversion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239512"/>
            <a:ext cx="5303520" cy="18288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94376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5294376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University pilots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586984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Initial institutional conversations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47218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380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From MVP to market leader — in 18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A focused, milestone-driven plan from where we are today to a category-defining position.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749039"/>
          </a:xfrm>
          <a:prstGeom prst="rect">
            <a:avLst/>
          </a:prstGeom>
          <a:solidFill>
            <a:srgbClr val="12172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146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AAAABB"/>
                </a:solidFill>
                <a:latin typeface="Calibri"/>
              </a:rPr>
              <a:t>Q2–Q3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Validate &amp; 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100 paid users (₹1L+ MRR)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5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5+ video testimonials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Product-market fit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Feature prioritisation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377440"/>
            <a:ext cx="3749039" cy="3749039"/>
          </a:xfrm>
          <a:prstGeom prst="rect">
            <a:avLst/>
          </a:prstGeom>
          <a:solidFill>
            <a:srgbClr val="121728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514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AAAABB"/>
                </a:solidFill>
                <a:latin typeface="Calibri"/>
              </a:rPr>
              <a:t>Q4 2026 – Q1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8036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Scale &amp;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2900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Mobile apps (iOS + Android)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2335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First 3 university pilots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17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1,000 paid users (₹10L+ MRR)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212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Hindi language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377440"/>
            <a:ext cx="3749039" cy="3749039"/>
          </a:xfrm>
          <a:prstGeom prst="rect">
            <a:avLst/>
          </a:prstGeom>
          <a:solidFill>
            <a:srgbClr val="12172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514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5146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AAAABB"/>
                </a:solidFill>
                <a:latin typeface="Calibri"/>
              </a:rPr>
              <a:t>Q2–Q4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88036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Institutional 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42900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10,000+ active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02335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10+ institutional 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Team scale to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212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National Academic Adoption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276856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18541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WHO'S BUILDING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Built by someone who lived the problem.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3474720" cy="393192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2514600"/>
            <a:ext cx="1645920" cy="1645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16459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600" b="1">
                <a:solidFill>
                  <a:srgbClr val="0A0E1A"/>
                </a:solidFill>
                <a:latin typeface="Calibri"/>
              </a:rPr>
              <a:t>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Anish Krisna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Calibri"/>
              </a:rPr>
              <a:t>Founder &amp; CEO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74920"/>
            <a:ext cx="3200400" cy="18288"/>
          </a:xfrm>
          <a:prstGeom prst="rect">
            <a:avLst/>
          </a:prstGeom>
          <a:solidFill>
            <a:srgbClr val="4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166360"/>
            <a:ext cx="32004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EDUCATION: MS in 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68112"/>
            <a:ext cx="32004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C107"/>
                </a:solidFill>
                <a:latin typeface="Calibri"/>
              </a:rPr>
              <a:t>EXPERIENCE: 11 Years cross-functional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377440"/>
            <a:ext cx="2514600" cy="14630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63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Data-driven product decisions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377440"/>
            <a:ext cx="2514600" cy="14630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063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Brand, growth &amp; demand gen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377440"/>
            <a:ext cx="2514600" cy="14630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End-to-end product building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069080"/>
            <a:ext cx="8001000" cy="137160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187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480560"/>
            <a:ext cx="76809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"Build the operating system for academic work — so India's brightest minds spend their time on insight, not on busywork."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5257800"/>
            <a:ext cx="8001000" cy="1234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537667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WHY I BUILT DYNAMO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623560"/>
            <a:ext cx="768096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 experienced how fragmented academic workflows force researchers to spend more time managing tools than producing insight. Dynamo AI was created to unify research, writing, citations and knowledge management into a single academic workspace — so scholars can focus on what actually matters.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47802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WHAT WE NEED FROM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Let's build India's academic operating system —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We have the product, the vision, and early traction. We're looking for the right partners to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Mentorship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Strategic guidance from founders who've scaled SaaS in India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Incubation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Workspace, infrastructure, and ecosystem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Academic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Warm intros to universities &amp; research institutions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Pilot Institutions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3–5 partner institutions for institutional MVP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02368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8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Strategic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Go-to-market, hiring, and fundraising playbooks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11430000" cy="77724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13248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LET'S TALK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8756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Try it live · See the product · Then decide.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440680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Demo: app.dynamoai.in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742432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Email: anish@dynamoai.in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400800"/>
            <a:ext cx="12188952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C107"/>
                </a:solidFill>
                <a:latin typeface="Calibri"/>
              </a:rPr>
              <a:t>⚡   THANK YOU   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