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"/>
            <a:ext cx="640080" cy="640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74320"/>
            <a:ext cx="2743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320040"/>
            <a:ext cx="19202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FFC107"/>
                </a:solidFill>
                <a:latin typeface="Calibri"/>
              </a:rPr>
              <a:t>🇮🇳  MADE IN INDIA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560320" cy="301752"/>
          </a:xfrm>
          <a:prstGeom prst="rect">
            <a:avLst/>
          </a:prstGeom>
          <a:solidFill>
            <a:srgbClr val="1A14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35608"/>
            <a:ext cx="2468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INCUBATOR PITCH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457200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0" b="1">
                <a:solidFill>
                  <a:srgbClr val="FFFFFF"/>
                </a:solidFill>
                <a:latin typeface="Calibri"/>
              </a:rPr>
              <a:t>Dynamo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201168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0" b="1">
                <a:solidFill>
                  <a:srgbClr val="FFC107"/>
                </a:solidFill>
                <a:latin typeface="Calibri"/>
              </a:rPr>
              <a:t>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10972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Research Operating System for Academia.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947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RESEARCH  ·  WRITE  ·  CITE  ·  PRESENT  —  ALL IN ONE PLACE.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97680"/>
            <a:ext cx="9144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AAAABB"/>
                </a:solidFill>
                <a:latin typeface="Calibri"/>
              </a:rPr>
              <a:t>Built for India's 200,000+ PhD scholars, researchers and educators.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45720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FOUNDER: ANISH KRISNA S  ·  MS DATA SCIENCE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92240"/>
            <a:ext cx="21945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02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47218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38074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Academic work is broken.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2296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Today's researchers juggle a dozen disconnected tools just to complete a single piece of academic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59736"/>
            <a:ext cx="192024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💬 ChatGPT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192024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General AI chat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42316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459736"/>
            <a:ext cx="192024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🔎 Google Scholar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788920"/>
            <a:ext cx="192024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Paper search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42316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2459736"/>
            <a:ext cx="192024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📚 Research DBs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788920"/>
            <a:ext cx="192024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JSTOR · Scopus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0040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36976"/>
            <a:ext cx="192024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📋 Citation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66160"/>
            <a:ext cx="192024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Zotero · Mendeley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06040" y="320040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97480" y="3236976"/>
            <a:ext cx="192024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📝 Word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566160"/>
            <a:ext cx="192024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Writing &amp; drafts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3200400"/>
            <a:ext cx="2103120" cy="68580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236976"/>
            <a:ext cx="192024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📊 PowerPoint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566160"/>
            <a:ext cx="192024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Presentations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233172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FFC107"/>
                </a:solidFill>
                <a:latin typeface="Calibri"/>
              </a:rPr>
              <a:t>THE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2606040"/>
            <a:ext cx="4572000" cy="2057400"/>
          </a:xfrm>
          <a:prstGeom prst="rect">
            <a:avLst/>
          </a:prstGeom>
          <a:solidFill>
            <a:srgbClr val="1410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60920" y="2697480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✗  Context switching across 6+ tools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136392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✗  Lost productivity &amp; wasted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0920" y="3575304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✗  Repeated effort &amp; duplicate 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4014216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✗  Fragmented, disconnected workflow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03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880360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7889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THE COST OF FRAGMENTATION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9728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The hidden tax on every researcher.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Fragmented tools don't just slow researchers down — they steal focus from the actual work that matters.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2194560" cy="32918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603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Context Switching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03320"/>
            <a:ext cx="192024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Constantly jumping between 6+ tools breaks flow and deep thinking.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2377440"/>
            <a:ext cx="2194560" cy="32918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62072" y="25603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315468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Manual Formatting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072" y="3703320"/>
            <a:ext cx="192024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Citation rules, paper formatting, and references rewritten by hand.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4064" y="2377440"/>
            <a:ext cx="2194560" cy="32918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21224" y="25603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🗂️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21224" y="315468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Fragmented Notes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1224" y="3703320"/>
            <a:ext cx="192024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Findings scattered across tabs, docs, and offline notebooks.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3216" y="2377440"/>
            <a:ext cx="2194560" cy="32918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0376" y="25603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⏱️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0376" y="315468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Lost Time, Lost Focus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0376" y="3703320"/>
            <a:ext cx="192024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Time spent stitching tools together — instead of producing insight.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02368" y="2377440"/>
            <a:ext cx="2194560" cy="32918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39528" y="25603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39528" y="3154680"/>
            <a:ext cx="192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Duplicated Effort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39528" y="3703320"/>
            <a:ext cx="192024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Same searches, same summaries, same formatting — across every project.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760720"/>
            <a:ext cx="11430000" cy="68580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⚡  The real cost isn't just hours — it's the insight, ideas and research output lost to busywork.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47218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38074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INTRODUCING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One platform. Six superpowers.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686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Dynamo AI replaces 6+ disconnected tools with a single intelligent platform built for academics.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32888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🔬  Research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Real-time search across web + Semantic Scholar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42316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532888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📖  Literature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01752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Find gaps, summarise papers, surface insights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42316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532888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✍️  Academic Writing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01752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Draft &amp; refine with DeepThink AI mode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93192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41648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📋  Citation Generation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52628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Auto-format APA, MLA, IEEE, Chicago, Harvard, Vancouver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93192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4041648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📊  Presentation Creation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52628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Mindmaps, flowcharts, decks — instantly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931920"/>
            <a:ext cx="3749039" cy="1371600"/>
          </a:xfrm>
          <a:prstGeom prst="rect">
            <a:avLst/>
          </a:prstGeom>
          <a:solidFill>
            <a:srgbClr val="121728"/>
          </a:solidFill>
          <a:ln w="12700">
            <a:solidFill>
              <a:srgbClr val="3A30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60" y="4041648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🧠  Knowledge Management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52628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AI Memory + Document Library, persistent across chats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309360"/>
            <a:ext cx="11430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AAAABB"/>
                </a:solidFill>
                <a:latin typeface="Calibri"/>
              </a:rPr>
              <a:t>20+ AI capabilities  ·  3 AI model tiers  ·  6 citation formats  ·  Built for researchers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578608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487168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THE DYNAMO AI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0584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One continuous workflow — start to finish.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8686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No more tab-switching. From research question to final deck — every step in one platform.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8880"/>
            <a:ext cx="1463040" cy="2377440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304288"/>
            <a:ext cx="6400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5176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9184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Define Topic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291840"/>
            <a:ext cx="228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39112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50592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50592" y="2304288"/>
            <a:ext cx="6400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0552" y="265176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0552" y="329184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3291840"/>
            <a:ext cx="228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2464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23944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23944" y="2304288"/>
            <a:ext cx="6400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03904" y="265176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03904" y="329184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21224" y="3291840"/>
            <a:ext cx="228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85816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97296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97296" y="2304288"/>
            <a:ext cx="6400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77256" y="265176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77256" y="329184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Write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291840"/>
            <a:ext cx="228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59168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70648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70648" y="2304288"/>
            <a:ext cx="6400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0608" y="265176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0608" y="329184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67928" y="3291840"/>
            <a:ext cx="228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32520" y="2468880"/>
            <a:ext cx="1463040" cy="23774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0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0" y="2304288"/>
            <a:ext cx="6400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65176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329184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Present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3291840"/>
            <a:ext cx="228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C107"/>
                </a:solidFill>
                <a:latin typeface="Calibri"/>
              </a:rPr>
              <a:t>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05872" y="2468880"/>
            <a:ext cx="1463040" cy="2377440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817352" y="2304288"/>
            <a:ext cx="64008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17352" y="2304288"/>
            <a:ext cx="6400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97312" y="2651760"/>
            <a:ext cx="1280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97312" y="3291840"/>
            <a:ext cx="1280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0" y="5212080"/>
            <a:ext cx="6675120" cy="411480"/>
          </a:xfrm>
          <a:prstGeom prst="rect">
            <a:avLst/>
          </a:prstGeom>
          <a:solidFill>
            <a:srgbClr val="1A14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43200" y="5239512"/>
            <a:ext cx="667512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C107"/>
                </a:solidFill>
                <a:latin typeface="Calibri"/>
              </a:rPr>
              <a:t>⚡  Each step removes friction. The full workflow lives inside a single workspace.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PRODUCT · 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06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679191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587751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PRODUCT · THE WORKSPACE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A workspace built for thinking.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AAAABB"/>
                </a:solidFill>
                <a:latin typeface="Calibri"/>
              </a:rPr>
              <a:t>Clean, chat-first interface. Modes for every research task. Built and live today at app.dynamoai.in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68580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377440"/>
            <a:ext cx="6858000" cy="201168"/>
          </a:xfrm>
          <a:prstGeom prst="rect">
            <a:avLst/>
          </a:prstGeom>
          <a:solidFill>
            <a:srgbClr val="EEEEF2"/>
          </a:solidFill>
          <a:ln w="12700">
            <a:solidFill>
              <a:srgbClr val="DDD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95728"/>
            <a:ext cx="6675120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700" b="0">
                <a:solidFill>
                  <a:srgbClr val="666677"/>
                </a:solidFill>
                <a:latin typeface="Calibri"/>
              </a:rPr>
              <a:t>● ● ●   app.dynamoai.in</a:t>
            </a:r>
          </a:p>
        </p:txBody>
      </p:sp>
      <p:pic>
        <p:nvPicPr>
          <p:cNvPr id="13" name="Picture 12" descr="Screenshot_2026-05-21_at_9.07.27_PM_17793784448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578608"/>
            <a:ext cx="6858000" cy="29992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65760" y="5577840"/>
            <a:ext cx="6858000" cy="457200"/>
          </a:xfrm>
          <a:prstGeom prst="rect">
            <a:avLst/>
          </a:prstGeom>
          <a:solidFill>
            <a:srgbClr val="0A0E1A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5614416"/>
            <a:ext cx="6638544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  <a:latin typeface="Calibri"/>
              </a:rPr>
              <a:t>Main Workspace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5815584"/>
            <a:ext cx="6638544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Chat-first interface · Recents · Quick Tools · Persistent memory across sessions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77440"/>
            <a:ext cx="4389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2377440"/>
            <a:ext cx="4389120" cy="201168"/>
          </a:xfrm>
          <a:prstGeom prst="rect">
            <a:avLst/>
          </a:prstGeom>
          <a:solidFill>
            <a:srgbClr val="EEEEF2"/>
          </a:solidFill>
          <a:ln w="12700">
            <a:solidFill>
              <a:srgbClr val="DDD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2395728"/>
            <a:ext cx="4206240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700" b="0">
                <a:solidFill>
                  <a:srgbClr val="666677"/>
                </a:solidFill>
                <a:latin typeface="Calibri"/>
              </a:rPr>
              <a:t>● ● ●   app.dynamoai.in</a:t>
            </a:r>
          </a:p>
        </p:txBody>
      </p:sp>
      <p:pic>
        <p:nvPicPr>
          <p:cNvPr id="20" name="Picture 19" descr="Screenshot_2026-05-21_at_9.08.49_PM_17793784448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2578608"/>
            <a:ext cx="4389120" cy="10789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06640" y="3657600"/>
            <a:ext cx="4389120" cy="457200"/>
          </a:xfrm>
          <a:prstGeom prst="rect">
            <a:avLst/>
          </a:prstGeom>
          <a:solidFill>
            <a:srgbClr val="0A0E1A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6368" y="3694176"/>
            <a:ext cx="4169664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  <a:latin typeface="Calibri"/>
              </a:rPr>
              <a:t>Mode Selector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6368" y="3895344"/>
            <a:ext cx="4169664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Fast · Research (Plus) · DeepThink (Pro)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297680"/>
            <a:ext cx="4389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06640" y="4297680"/>
            <a:ext cx="4389120" cy="201168"/>
          </a:xfrm>
          <a:prstGeom prst="rect">
            <a:avLst/>
          </a:prstGeom>
          <a:solidFill>
            <a:srgbClr val="EEEEF2"/>
          </a:solidFill>
          <a:ln w="12700">
            <a:solidFill>
              <a:srgbClr val="DDD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0" y="4315968"/>
            <a:ext cx="4206240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700" b="0">
                <a:solidFill>
                  <a:srgbClr val="666677"/>
                </a:solidFill>
                <a:latin typeface="Calibri"/>
              </a:rPr>
              <a:t>● ● ●   app.dynamoai.in</a:t>
            </a:r>
          </a:p>
        </p:txBody>
      </p:sp>
      <p:pic>
        <p:nvPicPr>
          <p:cNvPr id="27" name="Picture 26" descr="Screenshot_2026-05-21_at_9.08.58_PM_17793784448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4498848"/>
            <a:ext cx="4389120" cy="107899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406640" y="5577840"/>
            <a:ext cx="4389120" cy="457200"/>
          </a:xfrm>
          <a:prstGeom prst="rect">
            <a:avLst/>
          </a:prstGeom>
          <a:solidFill>
            <a:srgbClr val="0A0E1A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6368" y="5614416"/>
            <a:ext cx="4169664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  <a:latin typeface="Calibri"/>
              </a:rPr>
              <a:t>Tools Menu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5815584"/>
            <a:ext cx="4169664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Study guides · Radio mode · Image, Slides, Mindmaps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868680"/>
            <a:ext cx="1737360" cy="274320"/>
          </a:xfrm>
          <a:prstGeom prst="rect">
            <a:avLst/>
          </a:prstGeom>
          <a:solidFill>
            <a:srgbClr val="052812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886968"/>
            <a:ext cx="169164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22C55E"/>
                </a:solidFill>
                <a:latin typeface="Calibri"/>
              </a:rPr>
              <a:t>● LIVE IN PRODUCTION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2636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>
                <a:solidFill>
                  <a:srgbClr val="AAAABB"/>
                </a:solidFill>
                <a:latin typeface="Calibri"/>
              </a:rPr>
              <a:t>Try it live · app.dynamoai.in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PRODUCT · 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07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3685032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3593591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PRODUCT · PERSISTENT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It remembers. So you don't have 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AAAABB"/>
                </a:solidFill>
                <a:latin typeface="Calibri"/>
              </a:rPr>
              <a:t>AI Memory and Document Library make Dynamo the first AI that actually knows your research context — chat after chat.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377440"/>
            <a:ext cx="3566160" cy="201168"/>
          </a:xfrm>
          <a:prstGeom prst="rect">
            <a:avLst/>
          </a:prstGeom>
          <a:solidFill>
            <a:srgbClr val="EEEEF2"/>
          </a:solidFill>
          <a:ln w="12700">
            <a:solidFill>
              <a:srgbClr val="DDD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95728"/>
            <a:ext cx="3383280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700" b="0">
                <a:solidFill>
                  <a:srgbClr val="666677"/>
                </a:solidFill>
                <a:latin typeface="Calibri"/>
              </a:rPr>
              <a:t>● ● ●   app.dynamoai.in</a:t>
            </a:r>
          </a:p>
        </p:txBody>
      </p:sp>
      <p:pic>
        <p:nvPicPr>
          <p:cNvPr id="13" name="Picture 12" descr="Screenshot_2026-05-21_at_9.08.16_PM_1779378444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578608"/>
            <a:ext cx="3566160" cy="29992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65760" y="5577840"/>
            <a:ext cx="3566160" cy="457200"/>
          </a:xfrm>
          <a:prstGeom prst="rect">
            <a:avLst/>
          </a:prstGeom>
          <a:solidFill>
            <a:srgbClr val="0A0E1A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5614416"/>
            <a:ext cx="3346704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  <a:latin typeface="Calibri"/>
              </a:rPr>
              <a:t>User Profile &amp; Quotas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5815584"/>
            <a:ext cx="3346704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Plan tier · Chat / Image / Video quotas · One-click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2377440"/>
            <a:ext cx="3840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2377440"/>
            <a:ext cx="3840480" cy="201168"/>
          </a:xfrm>
          <a:prstGeom prst="rect">
            <a:avLst/>
          </a:prstGeom>
          <a:solidFill>
            <a:srgbClr val="EEEEF2"/>
          </a:solidFill>
          <a:ln w="12700">
            <a:solidFill>
              <a:srgbClr val="DDD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51960" y="2395728"/>
            <a:ext cx="3657600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700" b="0">
                <a:solidFill>
                  <a:srgbClr val="666677"/>
                </a:solidFill>
                <a:latin typeface="Calibri"/>
              </a:rPr>
              <a:t>● ● ●   app.dynamoai.in</a:t>
            </a:r>
          </a:p>
        </p:txBody>
      </p:sp>
      <p:pic>
        <p:nvPicPr>
          <p:cNvPr id="20" name="Picture 19" descr="Screenshot_2026-05-21_at_9.08.27_PM_17793784448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2578608"/>
            <a:ext cx="3840480" cy="299923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160520" y="5577840"/>
            <a:ext cx="3840480" cy="457200"/>
          </a:xfrm>
          <a:prstGeom prst="rect">
            <a:avLst/>
          </a:prstGeom>
          <a:solidFill>
            <a:srgbClr val="0A0E1A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0248" y="5614416"/>
            <a:ext cx="3621024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  <a:latin typeface="Calibri"/>
              </a:rPr>
              <a:t>AI 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5815584"/>
            <a:ext cx="3621024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Auto-captured facts about your research interests, goals &amp; topics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37744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2377440"/>
            <a:ext cx="3566160" cy="201168"/>
          </a:xfrm>
          <a:prstGeom prst="rect">
            <a:avLst/>
          </a:prstGeom>
          <a:solidFill>
            <a:srgbClr val="EEEEF2"/>
          </a:solidFill>
          <a:ln w="12700">
            <a:solidFill>
              <a:srgbClr val="DDDD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395728"/>
            <a:ext cx="3383280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700" b="0">
                <a:solidFill>
                  <a:srgbClr val="666677"/>
                </a:solidFill>
                <a:latin typeface="Calibri"/>
              </a:rPr>
              <a:t>● ● ●   app.dynamoai.in</a:t>
            </a:r>
          </a:p>
        </p:txBody>
      </p:sp>
      <p:pic>
        <p:nvPicPr>
          <p:cNvPr id="27" name="Picture 26" descr="Screenshot_2026-05-21_at_9.08.38_PM_17793784448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2578608"/>
            <a:ext cx="3566160" cy="2999232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229600" y="5577840"/>
            <a:ext cx="3566160" cy="457200"/>
          </a:xfrm>
          <a:prstGeom prst="rect">
            <a:avLst/>
          </a:prstGeom>
          <a:solidFill>
            <a:srgbClr val="0A0E1A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9328" y="5614416"/>
            <a:ext cx="3346704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  <a:latin typeface="Calibri"/>
              </a:rPr>
              <a:t>Document Library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8" y="5815584"/>
            <a:ext cx="3346704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PDFs · DOCX · TXT — summaries injected into every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2636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FFC107"/>
                </a:solidFill>
                <a:latin typeface="Calibri"/>
              </a:rPr>
              <a:t>Built-in differentiator: no other academic AI tool today has both persistent Memory AND a Document Library.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WATCH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08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572768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481328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PRODUCT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See Dynamo AI in 90 seconds.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A full end-to-end walkthrough — from research question to finished deck.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2468880"/>
            <a:ext cx="7772400" cy="3291840"/>
          </a:xfrm>
          <a:prstGeom prst="rect">
            <a:avLst/>
          </a:prstGeom>
          <a:solidFill>
            <a:srgbClr val="0A0E1A"/>
          </a:solidFill>
          <a:ln w="381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31720" y="2606040"/>
            <a:ext cx="7498080" cy="3017520"/>
          </a:xfrm>
          <a:prstGeom prst="rect">
            <a:avLst/>
          </a:prstGeom>
          <a:solidFill>
            <a:srgbClr val="14192B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40680" y="3429000"/>
            <a:ext cx="1280160" cy="1280160"/>
          </a:xfrm>
          <a:prstGeom prst="ellipse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593592"/>
            <a:ext cx="128016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400" b="1">
                <a:solidFill>
                  <a:srgbClr val="0A0E1A"/>
                </a:solidFill>
                <a:latin typeface="Calibri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114300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C107"/>
                </a:solidFill>
                <a:latin typeface="Calibri"/>
              </a:rPr>
              <a:t>WATCH THE FULL DEMO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6199632"/>
            <a:ext cx="5760720" cy="320040"/>
          </a:xfrm>
          <a:prstGeom prst="rect">
            <a:avLst/>
          </a:prstGeom>
          <a:solidFill>
            <a:srgbClr val="121728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6236208"/>
            <a:ext cx="5669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▶  youtube.com/watch?v=YOUR_VIDEO_ID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65392"/>
            <a:ext cx="11430000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700" b="0">
                <a:solidFill>
                  <a:srgbClr val="555566"/>
                </a:solidFill>
                <a:latin typeface="Calibri"/>
              </a:rPr>
              <a:t>[ Founder: replace placeholder URL with your unlisted YouTube demo link before submission 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WHY DYNAMO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09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874519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7830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WHY DYNAMO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0584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Five reasons we win this category.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We're not another generic chatbot. Every design decision serves one user: the researcher.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5715000" cy="169164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542032"/>
            <a:ext cx="4709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Built for Academic Workflows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08960"/>
            <a:ext cx="53949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Not a generic AI chat. Every feature — modes, citation engine, study guides — is shaped around how researchers actually 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2377440"/>
            <a:ext cx="5715000" cy="169164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1460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542032"/>
            <a:ext cx="4709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Research → Write → Cite → Present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108960"/>
            <a:ext cx="53949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The full academic pipeline lives inside a single workspace. Switching tools is the problem we exist to remove.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51960"/>
            <a:ext cx="3749039" cy="169164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38912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16552"/>
            <a:ext cx="274319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Persistent Academic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342899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AI Memory + Document Library give Dynamo lasting context about your work — no other academic AI does both.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251960"/>
            <a:ext cx="3749039" cy="169164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438912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🇮🇳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4416552"/>
            <a:ext cx="274319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India-First Pricing &amp; 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983480"/>
            <a:ext cx="342899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Designed for Indian researchers. INR pricing (₹399 / ₹999), local payment rails (Razorpay), Hindi roadmap.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251960"/>
            <a:ext cx="3749039" cy="169164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38912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👨‍🔬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416552"/>
            <a:ext cx="274319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Built by Someone Who Lived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983480"/>
            <a:ext cx="3428999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Founder is a former data scientist who built Dynamo to solve a problem he experienced first-hand.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26364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AAAABB"/>
                </a:solidFill>
                <a:latin typeface="Calibri"/>
              </a:rPr>
              <a:t>We don't compete on AI capability. We compete on workflow ownership.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COMPETITION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10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47802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3865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COMPETITIVE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0584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One workflow. Everyone else is a slice.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AAAABB"/>
                </a:solidFill>
                <a:latin typeface="Calibri"/>
              </a:rPr>
              <a:t>Other tools each solve a single piece of the research workflow. Dynamo AI brings them together in a single workspace.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292608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514600"/>
            <a:ext cx="283464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AAAABB"/>
                </a:solidFill>
                <a:latin typeface="Calibri"/>
              </a:rPr>
              <a:t>Capability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423160"/>
            <a:ext cx="146304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251460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423160"/>
            <a:ext cx="146304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51460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Consensus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423160"/>
            <a:ext cx="146304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251460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Elicit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2423160"/>
            <a:ext cx="1463040" cy="420624"/>
          </a:xfrm>
          <a:prstGeom prst="rect">
            <a:avLst/>
          </a:prstGeom>
          <a:solidFill>
            <a:srgbClr val="14192B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2514600"/>
            <a:ext cx="1371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Jenni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2423160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2514600"/>
            <a:ext cx="1645919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FFC107"/>
                </a:solidFill>
                <a:latin typeface="Calibri"/>
              </a:rPr>
              <a:t>⚡ Dynamo AI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843784"/>
            <a:ext cx="292608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35224"/>
            <a:ext cx="27889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2843784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2907792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C107"/>
                </a:solidFill>
                <a:latin typeface="Calibri"/>
              </a:rPr>
              <a:t>~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2843784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0" y="2907792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2843784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2907792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2843784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2907792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2843784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2907792"/>
            <a:ext cx="173736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264408"/>
            <a:ext cx="292608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355848"/>
            <a:ext cx="27889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Academic Writing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3264408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3328416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3264408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3328416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3264408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3328416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80960" y="3264408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3328416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3264408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328416"/>
            <a:ext cx="173736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685032"/>
            <a:ext cx="292608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3776472"/>
            <a:ext cx="27889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Citation Formatting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685032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749040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C107"/>
                </a:solidFill>
                <a:latin typeface="Calibri"/>
              </a:rPr>
              <a:t>~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54880" y="3685032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4880" y="3749040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685032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3749040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80960" y="3685032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80960" y="3749040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0" y="3685032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44000" y="3749040"/>
            <a:ext cx="173736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105656"/>
            <a:ext cx="292608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197096"/>
            <a:ext cx="27889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Document Library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91840" y="4105656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91840" y="4169664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754880" y="4105656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54880" y="4169664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4105656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17920" y="4169664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80960" y="4105656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80960" y="4169664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0" y="4105656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0" y="4169664"/>
            <a:ext cx="173736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526280"/>
            <a:ext cx="292608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4617720"/>
            <a:ext cx="27889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Presentation Creation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291840" y="4526280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291840" y="459028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4526280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54880" y="459028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17920" y="4526280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17920" y="459028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680960" y="4526280"/>
            <a:ext cx="1463040" cy="420624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80960" y="4590288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0" y="4526280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44000" y="4590288"/>
            <a:ext cx="173736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4946904"/>
            <a:ext cx="292608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7200" y="5038344"/>
            <a:ext cx="27889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Single Workspace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91840" y="4946904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91840" y="5010912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754880" y="4946904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54880" y="5010912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17920" y="4946904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17920" y="5010912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680960" y="4946904"/>
            <a:ext cx="1463040" cy="420624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680960" y="5010912"/>
            <a:ext cx="146304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EF4444"/>
                </a:solidFill>
                <a:latin typeface="Calibri"/>
              </a:rPr>
              <a:t>✗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0" y="4946904"/>
            <a:ext cx="1737360" cy="420624"/>
          </a:xfrm>
          <a:prstGeom prst="rect">
            <a:avLst/>
          </a:prstGeom>
          <a:solidFill>
            <a:srgbClr val="201900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144000" y="5010912"/>
            <a:ext cx="173736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5806440"/>
            <a:ext cx="11430000" cy="59436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💡  Dynamo AI brings Research, Writing, Citations, Memory and Presentations under one login — built for the academic workflow.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11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069848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978408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Three forces. One window.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Academia is at an inflection point. Researchers need integrated AI tools — and they need them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3749039" cy="34747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6032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56032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604503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4612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Research Output is Exploding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C107"/>
                </a:solidFill>
                <a:latin typeface="Calibri"/>
              </a:rPr>
              <a:t>Exponential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Global research volume is growing exponentially. Manual literature reviews don't scale to the pace of modern science.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2377440"/>
            <a:ext cx="3749039" cy="34747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256032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256032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604503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24612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AI Adoption is Mainstream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160520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C107"/>
                </a:solidFill>
                <a:latin typeface="Calibri"/>
              </a:rPr>
              <a:t>Already in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6634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AI tools are now part of daily academic life. But most are generic — none are designed around how researchers actually work.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2377440"/>
            <a:ext cx="3749039" cy="34747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560320"/>
            <a:ext cx="5486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2560320"/>
            <a:ext cx="457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604503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24612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Workflow Tools are Demanded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160520"/>
            <a:ext cx="34747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C107"/>
                </a:solidFill>
                <a:latin typeface="Calibri"/>
              </a:rPr>
              <a:t>Integration is the gap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663440"/>
            <a:ext cx="338328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Researchers are vocally tired of stitching 6+ tools together. The next winner won't add another chatbot — it'll consolidate the workflow.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market is ready. Researchers want integrated, intelligent tools — built for them, in India.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12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348386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339242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TARGET MARKET · TAM / SAM / SOM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91440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Big market. Sharp entry point.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Start with the highest-pain users. Expand outward to institutions.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3749039" cy="3749039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731520" cy="320040"/>
          </a:xfrm>
          <a:prstGeom prst="rect">
            <a:avLst/>
          </a:prstGeom>
          <a:solidFill>
            <a:srgbClr val="14192B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78608"/>
            <a:ext cx="73152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C107"/>
                </a:solidFill>
                <a:latin typeface="Calibri"/>
              </a:rPr>
              <a:t>TAM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Total Addressable Market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747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All researchers, educators &amp; students using digital tools across India.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200" b="1">
                <a:solidFill>
                  <a:srgbClr val="AAAABB"/>
                </a:solidFill>
                <a:latin typeface="Calibri"/>
              </a:rPr>
              <a:t>₹2,400 Cr+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estimated annual academic productivity market (India)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377440"/>
            <a:ext cx="3749039" cy="3749039"/>
          </a:xfrm>
          <a:prstGeom prst="rect">
            <a:avLst/>
          </a:prstGeom>
          <a:solidFill>
            <a:srgbClr val="121728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80560" y="2560320"/>
            <a:ext cx="731520" cy="320040"/>
          </a:xfrm>
          <a:prstGeom prst="rect">
            <a:avLst/>
          </a:prstGeom>
          <a:solidFill>
            <a:srgbClr val="14192B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578608"/>
            <a:ext cx="73152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FFC107"/>
                </a:solidFill>
                <a:latin typeface="Calibri"/>
              </a:rPr>
              <a:t>SAM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2971800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Serviceable Available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337560"/>
            <a:ext cx="34747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India's 200K+ PhD scholars + 1.5M professors &amp; academic researchers.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34340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1.7M+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525780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active researchers &amp; faculty (India)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377440"/>
            <a:ext cx="3749039" cy="3749039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0" y="2560320"/>
            <a:ext cx="731520" cy="320040"/>
          </a:xfrm>
          <a:prstGeom prst="rect">
            <a:avLst/>
          </a:prstGeom>
          <a:solidFill>
            <a:srgbClr val="FFC107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578608"/>
            <a:ext cx="73152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1">
                <a:solidFill>
                  <a:srgbClr val="0A0E1A"/>
                </a:solidFill>
                <a:latin typeface="Calibri"/>
              </a:rPr>
              <a:t>SOM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971800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Serviceable Obtainable Market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337560"/>
            <a:ext cx="34747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First wedge: 10,000 paying scholars &amp; researchers in 24 months.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43400"/>
            <a:ext cx="34747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200" b="1">
                <a:solidFill>
                  <a:srgbClr val="FFC107"/>
                </a:solidFill>
                <a:latin typeface="Calibri"/>
              </a:rPr>
              <a:t>10K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257800"/>
            <a:ext cx="34747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users · ₹4–10 Cr ARR target by Year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00" b="0">
                <a:solidFill>
                  <a:srgbClr val="AAAABB"/>
                </a:solidFill>
                <a:latin typeface="Calibri"/>
              </a:rPr>
              <a:t>Wedge strategy: dominate PhD scholars first → expand to professors → institutional contracts.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13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773936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682496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BUSINESS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0584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Predictable revenue. Scalable margins.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Subscription SaaS today. Institutional licensing tomorrow. INR-priced for the Indian market.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31720"/>
            <a:ext cx="3749039" cy="3794760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Free Forever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34640"/>
            <a:ext cx="34747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₹0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108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BB"/>
                </a:solidFill>
                <a:latin typeface="Calibri"/>
              </a:rPr>
              <a:t>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57600"/>
            <a:ext cx="34747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Acquisition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60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10 AI chats /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07408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Fast Mode (Gemini Flash)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91456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Web search + voice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75504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AI Detector &amp; Plagiarism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559552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Mindmaps &amp; Flowcharts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2331720"/>
            <a:ext cx="3749039" cy="3794760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0" y="2167128"/>
            <a:ext cx="1737360" cy="2560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2167128"/>
            <a:ext cx="17373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00" b="1">
                <a:solidFill>
                  <a:srgbClr val="0A0E1A"/>
                </a:solidFill>
                <a:latin typeface="Calibri"/>
              </a:rPr>
              <a:t>MOST POPULAR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46888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C107"/>
                </a:solidFill>
                <a:latin typeface="Calibri"/>
              </a:rPr>
              <a:t>Plus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834640"/>
            <a:ext cx="34747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₹399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3108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BB"/>
                </a:solidFill>
                <a:latin typeface="Calibri"/>
              </a:rPr>
              <a:t>/mo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657600"/>
            <a:ext cx="34747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For scholars &amp; researchers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023360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Unlimited AI chats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407408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Research Mode (3 models)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91456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6-Format Citation Engine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175504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Document Library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559552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✓ Find Research Gaps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331720"/>
            <a:ext cx="3749039" cy="3794760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2468880"/>
            <a:ext cx="347472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834640"/>
            <a:ext cx="34747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₹999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3108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AAAABB"/>
                </a:solidFill>
                <a:latin typeface="Calibri"/>
              </a:rPr>
              <a:t>/mo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657600"/>
            <a:ext cx="347472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Power users &amp; professors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023360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Everything in Plus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407408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DeepThink Mode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791456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Deep Research 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5175504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Unlimited PDF uploads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559552"/>
            <a:ext cx="34747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CCCCDD"/>
                </a:solidFill>
                <a:latin typeface="Calibri"/>
              </a:rPr>
              <a:t>• Priority speed &amp; support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6309360"/>
            <a:ext cx="5669280" cy="41148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638251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C107"/>
                </a:solidFill>
                <a:latin typeface="Calibri"/>
              </a:rPr>
              <a:t>🏛️  FUTURE · YEAR 2  —  Institutional Licensing: ₹5L–50L / year per university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6309360"/>
            <a:ext cx="5669280" cy="41148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638251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C107"/>
                </a:solidFill>
                <a:latin typeface="Calibri"/>
              </a:rPr>
              <a:t>🤝  FUTURE · YEAR 2  —  University Partnerships: Embedded into curriculum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97510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88366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EARLY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82296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Real users. Real traction.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We're live. We have users. They're using it. Here's where we are and where we're heading.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5486400" cy="3749039"/>
          </a:xfrm>
          <a:prstGeom prst="rect">
            <a:avLst/>
          </a:prstGeom>
          <a:solidFill>
            <a:srgbClr val="121728"/>
          </a:solidFill>
          <a:ln w="12700">
            <a:solidFill>
              <a:srgbClr val="3035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48716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Calibri"/>
              </a:rPr>
              <a:t>● TODAY · LIVE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880360"/>
            <a:ext cx="2423160" cy="713232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916936"/>
            <a:ext cx="219456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C107"/>
                </a:solidFill>
                <a:latin typeface="Calibri"/>
              </a:rPr>
              <a:t>[X]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319272"/>
            <a:ext cx="219456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Beta users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880360"/>
            <a:ext cx="2423160" cy="713232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18688" y="2916936"/>
            <a:ext cx="219456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C107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8688" y="3319272"/>
            <a:ext cx="219456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MVP shipped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03320"/>
            <a:ext cx="2423160" cy="713232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3739896"/>
            <a:ext cx="219456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C107"/>
                </a:solidFill>
                <a:latin typeface="Calibri"/>
              </a:rPr>
              <a:t>20+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142232"/>
            <a:ext cx="219456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AI features live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3703320"/>
            <a:ext cx="2423160" cy="713232"/>
          </a:xfrm>
          <a:prstGeom prst="rect">
            <a:avLst/>
          </a:prstGeom>
          <a:solidFill>
            <a:srgbClr val="0E1322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18688" y="3739896"/>
            <a:ext cx="219456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C107"/>
                </a:solidFill>
                <a:latin typeface="Calibri"/>
              </a:rPr>
              <a:t>[X]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8688" y="4142232"/>
            <a:ext cx="219456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AAAABB"/>
                </a:solidFill>
                <a:latin typeface="Calibri"/>
              </a:rPr>
              <a:t>Professor endorsements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54880"/>
            <a:ext cx="5166360" cy="822960"/>
          </a:xfrm>
          <a:prstGeom prst="rect">
            <a:avLst/>
          </a:prstGeom>
          <a:solidFill>
            <a:srgbClr val="080C18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4632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"[ Add real user testimonial here ]"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21808"/>
            <a:ext cx="493776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— [ Add attribution 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377440"/>
            <a:ext cx="5577840" cy="3749039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487168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FFC107"/>
                </a:solidFill>
                <a:latin typeface="Calibri"/>
              </a:rPr>
              <a:t>● NEXT 90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88036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88036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Beta users onboarded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172968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Scaling from launch to active researchers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3630168"/>
            <a:ext cx="5303520" cy="18288"/>
          </a:xfrm>
          <a:prstGeom prst="rect">
            <a:avLst/>
          </a:prstGeom>
          <a:solidFill>
            <a:srgbClr val="30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685032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5+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3685032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Video testimonials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97764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Professor + PhD scholar validation videos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434840"/>
            <a:ext cx="5303520" cy="18288"/>
          </a:xfrm>
          <a:prstGeom prst="rect">
            <a:avLst/>
          </a:prstGeom>
          <a:solidFill>
            <a:srgbClr val="30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489704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489704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Paid users target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782312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First ₹1L+ MRR from organic conversion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5239512"/>
            <a:ext cx="5303520" cy="18288"/>
          </a:xfrm>
          <a:prstGeom prst="rect">
            <a:avLst/>
          </a:prstGeom>
          <a:solidFill>
            <a:srgbClr val="302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5294376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294376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University pilots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5586984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Initial institutional conversations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15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147218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138074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THE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9728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From MVP to market leader — in 18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A focused, milestone-driven plan from where we are today to a category-defining position.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3749039" cy="3749039"/>
          </a:xfrm>
          <a:prstGeom prst="rect">
            <a:avLst/>
          </a:prstGeom>
          <a:solidFill>
            <a:srgbClr val="121728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146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22C55E"/>
                </a:solidFill>
                <a:latin typeface="Calibri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514600"/>
            <a:ext cx="1600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AAAABB"/>
                </a:solidFill>
                <a:latin typeface="Calibri"/>
              </a:rPr>
              <a:t>Q2–Q3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880360"/>
            <a:ext cx="347472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Validate &amp; Refine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100 paid users (₹1L+ MRR)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59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5+ video testimonials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17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Product-market fit signals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1208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Feature prioritisation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377440"/>
            <a:ext cx="3749039" cy="3749039"/>
          </a:xfrm>
          <a:prstGeom prst="rect">
            <a:avLst/>
          </a:prstGeom>
          <a:solidFill>
            <a:srgbClr val="121728"/>
          </a:solidFill>
          <a:ln w="254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5146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FFC107"/>
                </a:solidFill>
                <a:latin typeface="Calibri"/>
              </a:rPr>
              <a:t>Phase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514600"/>
            <a:ext cx="1600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AAAABB"/>
                </a:solidFill>
                <a:latin typeface="Calibri"/>
              </a:rPr>
              <a:t>Q4 2026 – Q1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880360"/>
            <a:ext cx="347472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Scale &amp; 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34290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Mobile apps (iOS + Android)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023359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First 3 university pilots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617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1,000 paid users (₹10L+ MRR)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521208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Hindi language support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377440"/>
            <a:ext cx="3749039" cy="3749039"/>
          </a:xfrm>
          <a:prstGeom prst="rect">
            <a:avLst/>
          </a:prstGeom>
          <a:solidFill>
            <a:srgbClr val="121728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25146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Phase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2514600"/>
            <a:ext cx="1600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AAAABB"/>
                </a:solidFill>
                <a:latin typeface="Calibri"/>
              </a:rPr>
              <a:t>Q2–Q4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880360"/>
            <a:ext cx="347472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Institutional Play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42900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10,000+ active users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023359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10+ institutional contracts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617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Team scale to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5212080"/>
            <a:ext cx="34747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CCCCDD"/>
                </a:solidFill>
                <a:latin typeface="Calibri"/>
              </a:rPr>
              <a:t>›  Series A fundraising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FOUNDER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16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276856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185415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WHO'S BUILDING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9728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Built by someone who lived the problem.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3474720" cy="393192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80160" y="2514600"/>
            <a:ext cx="1645920" cy="1645920"/>
          </a:xfrm>
          <a:prstGeom prst="ellipse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16459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600" b="1">
                <a:solidFill>
                  <a:srgbClr val="0A0E1A"/>
                </a:solidFill>
                <a:latin typeface="Calibri"/>
              </a:rPr>
              <a:t>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32004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Anish Krisna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709160"/>
            <a:ext cx="3200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>
                <a:solidFill>
                  <a:srgbClr val="FFC107"/>
                </a:solidFill>
                <a:latin typeface="Calibri"/>
              </a:rPr>
              <a:t>Founder &amp; CEO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074920"/>
            <a:ext cx="3200400" cy="18288"/>
          </a:xfrm>
          <a:prstGeom prst="rect">
            <a:avLst/>
          </a:prstGeom>
          <a:solidFill>
            <a:srgbClr val="403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166360"/>
            <a:ext cx="32004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EDUCATION: MS in Data Science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68112"/>
            <a:ext cx="32004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FFC107"/>
                </a:solidFill>
                <a:latin typeface="Calibri"/>
              </a:rPr>
              <a:t>EXPERIENCE: 11 Years cross-functional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2377440"/>
            <a:ext cx="2514600" cy="14630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25146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06324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Analytics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42900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Data-driven product decisions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2377440"/>
            <a:ext cx="2514600" cy="14630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25146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06324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Marketing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42900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Brand, growth &amp; demand gen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01200" y="2377440"/>
            <a:ext cx="2514600" cy="1463040"/>
          </a:xfrm>
          <a:prstGeom prst="rect">
            <a:avLst/>
          </a:prstGeom>
          <a:solidFill>
            <a:srgbClr val="121728"/>
          </a:solidFill>
          <a:ln w="12700">
            <a:solidFill>
              <a:srgbClr val="252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60" y="25146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🛠️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40"/>
            <a:ext cx="2286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360" y="3429000"/>
            <a:ext cx="2286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AAAABB"/>
                </a:solidFill>
                <a:latin typeface="Calibri"/>
              </a:rPr>
              <a:t>End-to-end product building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06240" y="4069080"/>
            <a:ext cx="8001000" cy="1371600"/>
          </a:xfrm>
          <a:prstGeom prst="rect">
            <a:avLst/>
          </a:prstGeom>
          <a:solidFill>
            <a:srgbClr val="1814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43400" y="4187952"/>
            <a:ext cx="4572000" cy="228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FFC107"/>
                </a:solidFill>
                <a:latin typeface="Calibri"/>
              </a:rPr>
              <a:t>MISSION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80560"/>
            <a:ext cx="76809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"Build the operating system for academic work — so India's brightest minds spend their time on insight, not on busywork."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5577840"/>
            <a:ext cx="80010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AAAABB"/>
                </a:solidFill>
                <a:latin typeface="Calibri"/>
              </a:rPr>
              <a:t>Founded Dynamo AI after seeing first-hand how fragmented academic tools were stealing thousands of hours from researchers across India.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36576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AAAABB"/>
                </a:solidFill>
                <a:latin typeface="Calibri"/>
              </a:rPr>
              <a:t>DYNAMO AI ·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492240"/>
            <a:ext cx="31089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00" b="0">
                <a:solidFill>
                  <a:srgbClr val="AAAABB"/>
                </a:solidFill>
                <a:latin typeface="Calibri"/>
              </a:rPr>
              <a:t>app.dynamoai.in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ynamo_AI_New_Logo_1779360398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Dynamo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256032"/>
            <a:ext cx="4873752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>
                <a:solidFill>
                  <a:srgbClr val="AAAABB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56032"/>
            <a:ext cx="8229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1">
                <a:solidFill>
                  <a:srgbClr val="AAAABB"/>
                </a:solidFill>
                <a:latin typeface="Calibri"/>
              </a:rPr>
              <a:t>17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68680"/>
            <a:ext cx="2478024" cy="274320"/>
          </a:xfrm>
          <a:prstGeom prst="rect">
            <a:avLst/>
          </a:prstGeom>
          <a:solidFill>
            <a:srgbClr val="261E00"/>
          </a:solidFill>
          <a:ln w="12700">
            <a:solidFill>
              <a:srgbClr val="8060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877824"/>
            <a:ext cx="23865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1">
                <a:solidFill>
                  <a:srgbClr val="FFC107"/>
                </a:solidFill>
                <a:latin typeface="Calibri"/>
              </a:rPr>
              <a:t>● WHAT WE NEED FROM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09728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Let's build India's academic operating system — together.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92024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AAAABB"/>
                </a:solidFill>
                <a:latin typeface="Calibri"/>
              </a:rPr>
              <a:t>We have the product, the vision, and early traction. We're looking for the right partners to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60604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46120"/>
            <a:ext cx="20116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Mentorship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20116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Strategic guidance from founders who've scaled SaaS in India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4912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16352" y="260604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3246120"/>
            <a:ext cx="20116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Incubation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3657600"/>
            <a:ext cx="20116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Workspace, infrastructure, and ecosystem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84064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75504" y="260604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🏛️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3246120"/>
            <a:ext cx="20116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Academic Partnerships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3657600"/>
            <a:ext cx="20116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Warm intros to universities &amp; research institutions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3216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34656" y="260604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34656" y="3246120"/>
            <a:ext cx="20116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Pilot Institutions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3657600"/>
            <a:ext cx="20116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3–5 partner institutions for institutional MVP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02368" y="2423160"/>
            <a:ext cx="2194560" cy="2560320"/>
          </a:xfrm>
          <a:prstGeom prst="rect">
            <a:avLst/>
          </a:prstGeom>
          <a:solidFill>
            <a:srgbClr val="181400"/>
          </a:solidFill>
          <a:ln w="12700">
            <a:solidFill>
              <a:srgbClr val="604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93808" y="2606040"/>
            <a:ext cx="2011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3808" y="3246120"/>
            <a:ext cx="20116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Strategic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8" y="3657600"/>
            <a:ext cx="20116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>
                <a:solidFill>
                  <a:srgbClr val="AAAABB"/>
                </a:solidFill>
                <a:latin typeface="Calibri"/>
              </a:rPr>
              <a:t>Go-to-market, hiring, and fundraising playbooks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349240"/>
            <a:ext cx="11430000" cy="777240"/>
          </a:xfrm>
          <a:prstGeom prst="rect">
            <a:avLst/>
          </a:prstGeom>
          <a:solidFill>
            <a:srgbClr val="201900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13248"/>
            <a:ext cx="182880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>
                <a:solidFill>
                  <a:srgbClr val="FFC107"/>
                </a:solidFill>
                <a:latin typeface="Calibri"/>
              </a:rPr>
              <a:t>LET'S TALK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87568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Try it live · See the product · Then decide.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5440680"/>
            <a:ext cx="35661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Demo: app.dynamoai.in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742432"/>
            <a:ext cx="356616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Email: anish@dynamoai.in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0" y="6400800"/>
            <a:ext cx="12188952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FFC107"/>
                </a:solidFill>
                <a:latin typeface="Calibri"/>
              </a:rPr>
              <a:t>⚡   THANK YOU   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