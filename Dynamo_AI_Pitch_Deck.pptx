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74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200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🇮🇳  MADE IN INDIA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560320" cy="301752"/>
          </a:xfrm>
          <a:prstGeom prst="rect">
            <a:avLst/>
          </a:prstGeom>
          <a:solidFill>
            <a:srgbClr val="1A14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INCUBATOR PITCH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>
                <a:solidFill>
                  <a:srgbClr val="FFFFFF"/>
                </a:solidFill>
                <a:latin typeface="Calibri"/>
              </a:rPr>
              <a:t>Dynamo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>
                <a:solidFill>
                  <a:srgbClr val="FFC107"/>
                </a:solidFill>
                <a:latin typeface="Calibri"/>
              </a:rPr>
              <a:t>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India's Academic Workflow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RESEARCH  ·  WRITE  ·  CITE  ·  PRESENT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519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BB"/>
                </a:solidFill>
                <a:latin typeface="Calibri"/>
              </a:rPr>
              <a:t>All in one place. Built for India's 200,000+ PhD scholars &amp; researchers.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FOUNDER: ANISH KRISNA S  ·  MS DATA 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02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Academic work is broken.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Today's researchers juggle a dozen disconnected tools just to complete a single piece of academic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59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💬 ChatGPT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General AI 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459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🔎 Google Scholar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889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Paper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459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📚 Research DBs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7889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JSTOR · Scopus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369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📋 Citation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Zotero · Mendeley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32369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📝 Word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5661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Writing &amp; drafts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2369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📊 PowerPoint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5661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Presentations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331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THE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606040"/>
            <a:ext cx="4572000" cy="2057400"/>
          </a:xfrm>
          <a:prstGeom prst="rect">
            <a:avLst/>
          </a:prstGeom>
          <a:solidFill>
            <a:srgbClr val="1410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60920" y="26974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Context switching across 6+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13639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Lost productivity &amp; wasted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57530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Repeated effort &amp; duplicate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401421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Fragmented, disconnected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03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880360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COST OF FRAGMENTATION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Researchers spend 30+ hours per week on manual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That's time stolen from actual research, insight, and innovation.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2194560" cy="3291840"/>
          </a:xfrm>
          <a:prstGeom prst="rect">
            <a:avLst/>
          </a:prstGeom>
          <a:solidFill>
            <a:srgbClr val="101525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Searching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Hunting 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634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8010"/>
                </a:solidFill>
                <a:latin typeface="Calibri"/>
              </a:rPr>
              <a:t>HOURS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8–12 hrs/wk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24912" y="2377440"/>
            <a:ext cx="2194560" cy="3291840"/>
          </a:xfrm>
          <a:prstGeom prst="rect">
            <a:avLst/>
          </a:prstGeom>
          <a:solidFill>
            <a:srgbClr val="101525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Organising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Notes &amp; bookmarks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46634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8010"/>
                </a:solidFill>
                <a:latin typeface="Calibri"/>
              </a:rPr>
              <a:t>HOURS / 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62072" y="4937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4–6 hrs/wk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4064" y="2377440"/>
            <a:ext cx="2194560" cy="3291840"/>
          </a:xfrm>
          <a:prstGeom prst="rect">
            <a:avLst/>
          </a:prstGeom>
          <a:solidFill>
            <a:srgbClr val="101525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4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Writing Drafts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1224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Manual formatting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1224" y="46634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8010"/>
                </a:solidFill>
                <a:latin typeface="Calibri"/>
              </a:rPr>
              <a:t>HOURS / WEEK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1224" y="4937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10–15 hrs/wk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3216" y="2377440"/>
            <a:ext cx="2194560" cy="3291840"/>
          </a:xfrm>
          <a:prstGeom prst="rect">
            <a:avLst/>
          </a:prstGeom>
          <a:solidFill>
            <a:srgbClr val="101525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0376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6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Formatting Citations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APA, MLA, IEEE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0376" y="46634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8010"/>
                </a:solidFill>
                <a:latin typeface="Calibri"/>
              </a:rPr>
              <a:t>HOURS / WEEK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6" y="4937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3–5 hrs/wk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02368" y="2377440"/>
            <a:ext cx="2194560" cy="3291840"/>
          </a:xfrm>
          <a:prstGeom prst="rect">
            <a:avLst/>
          </a:prstGeom>
          <a:solidFill>
            <a:srgbClr val="101525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39528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9528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Creating Decks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9528" y="3474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Slides from scratch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46634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8010"/>
                </a:solidFill>
                <a:latin typeface="Calibri"/>
              </a:rPr>
              <a:t>HOURS / WEEK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4937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5–8 hrs/wk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760720"/>
            <a:ext cx="11430000" cy="68580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⏱  Average PhD scholar spends 1,500+ hours/year on fragmented tasks — equivalent to 9 months of full-time work.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04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INTRODUCING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One platform. Six superpowers.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Dynamo AI replaces 6+ disconnected tools with a single intelligent platform built for academics.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32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🔬  Research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Real-time search across web + Semantic Scholar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532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📖  Literature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017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Find gaps, summarise papers, surface insights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328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✍️  Academic 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017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Draft &amp; refine with DeepThink AI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📋  Citation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262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Auto-format APA, MLA, IEEE, Chicago, Harvard, Vancouver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40416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📊  Presentation Creation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Mindmaps, flowcharts, decks — instantly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0416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🧠  Knowledge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5262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AI Memory + Document Library, persistent across chats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AABB"/>
                </a:solidFill>
                <a:latin typeface="Calibri"/>
              </a:rPr>
              <a:t>20+ AI capabilities  ·  3 AI model tiers  ·  6 citation formats  ·  Built for researchers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05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578608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DYNAMO AI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One continuous workflow — start to finish.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No more tab-switching. From research question to final deck — every step in one platform.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1463040" cy="23774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Define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39112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50592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50592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2464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23944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23944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3904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3904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1224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85816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97296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97296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7256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7256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Write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70648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0648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0608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8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32520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0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Present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291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5872" y="2468880"/>
            <a:ext cx="1463040" cy="23774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817352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17352" y="2304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97312" y="265176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97312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5212080"/>
            <a:ext cx="5760720" cy="411480"/>
          </a:xfrm>
          <a:prstGeom prst="rect">
            <a:avLst/>
          </a:prstGeom>
          <a:solidFill>
            <a:srgbClr val="1A14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0" y="523951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  <a:latin typeface="Calibri"/>
              </a:rPr>
              <a:t>⚡  Average time saved: 20+ hours / week per researcher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06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97510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883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PRODUCT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Built. Live. Working today.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Six core surfaces — every academic workflow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1401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7004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614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💬 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Chat-first interface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5935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37744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41401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67004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7614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🔬  Deep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Multi-model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58444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8" y="35935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37744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41401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67004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7614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✍️  Writing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DeepThink mode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358444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35935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1480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15137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0740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4988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📋  Citations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937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6 academic formats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32180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533095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80" y="411480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415137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0" y="440740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44988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📂  Doc Library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937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Persistent memory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34840" y="532180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53128" y="533095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4114800"/>
            <a:ext cx="3749039" cy="292608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15137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AABB"/>
                </a:solidFill>
                <a:latin typeface="Calibri"/>
              </a:rPr>
              <a:t>● ● ●   app.dynamoai.in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407408"/>
            <a:ext cx="3749039" cy="132588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44988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📊  Presentations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4937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Slides &amp; mindmaps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66760" y="5321808"/>
            <a:ext cx="640080" cy="22860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85048" y="533095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22C55E"/>
                </a:solidFill>
                <a:latin typeface="Calibri"/>
              </a:rPr>
              <a:t>● 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AABB"/>
                </a:solidFill>
                <a:latin typeface="Calibri"/>
              </a:rPr>
              <a:t>🎬  Live Demo Available · app.dynamoai.in  |  📱  Try it free — no credit card required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07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47802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386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COMPETITIVE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The only end-to-end platform.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Existing tools solve one piece of the puzzle. Dynamo AI is the only complete academic workflow.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92608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146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AABB"/>
                </a:solidFill>
                <a:latin typeface="Calibri"/>
              </a:rPr>
              <a:t>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2514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514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Consensus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2514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Elicit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2514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Jenni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423160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A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251460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107"/>
                </a:solidFill>
                <a:latin typeface="Calibri"/>
              </a:rPr>
              <a:t>⚡ Dynamo 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43784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35224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9077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C107"/>
                </a:solidFill>
                <a:latin typeface="Calibri"/>
              </a:rPr>
              <a:t>~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9077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29077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29077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2843784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290779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64408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355848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Academic Writing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32841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332841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332841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332841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264408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32841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85032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776472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Citation Formatting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7490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C107"/>
                </a:solidFill>
                <a:latin typeface="Calibri"/>
              </a:rPr>
              <a:t>~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37490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37490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8096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0" y="37490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0" y="3685032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0" y="374904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105656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197096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Document Library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9184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91840" y="416966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0" y="416966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0" y="416966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8096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0" y="416966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0" y="4105656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0" y="416966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526280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4617720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Presentation Creation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9184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918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1792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8096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0" y="4526280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0" y="45902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4946904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" y="5038344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End-to-End Workflow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9184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9184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5488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548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792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68096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8096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946904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44000" y="50109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5806440"/>
            <a:ext cx="11430000" cy="59436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💡  Dynamo AI is the only platform with a complete workflow: Search → Write → Cite → Library → Present — all under one login.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069848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Three forces. One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The academic world is at an inflection point. Researchers need integrated AI tools — and they need them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546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Explosion of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C107"/>
                </a:solidFill>
                <a:latin typeface="Calibri"/>
              </a:rPr>
              <a:t>5M+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8010"/>
                </a:solidFill>
                <a:latin typeface="Calibri"/>
              </a:rPr>
              <a:t>PAPERS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Global research output is doubling every 9 years. Researchers can't keep up with manual literature reviews.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1546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AI Adoption in Academia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03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C107"/>
                </a:solidFill>
                <a:latin typeface="Calibri"/>
              </a:rPr>
              <a:t>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976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8010"/>
                </a:solidFill>
                <a:latin typeface="Calibri"/>
              </a:rPr>
              <a:t>OF RESEARCHERS USE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Nature 2024: AI use among researchers tripled in 18 months. But tools remain generic, not academic-specific.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256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1546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Demand for Speed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703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C107"/>
                </a:solidFill>
                <a:latin typeface="Calibri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2976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8010"/>
                </a:solidFill>
                <a:latin typeface="Calibri"/>
              </a:rPr>
              <a:t>FASTER OUTPUT 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Publish-or-perish pressure has intensified. Researchers need integrated tools, not 6 separate apps.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217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market is ready. Researchers want integrated, intelligent tools — built for them, in India.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09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673352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TARGET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Built for India's academic 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 start with the highest-need users and expand outwards — individuals to institutions.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3749039" cy="3749039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67128"/>
            <a:ext cx="2743200" cy="256032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17627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PRIMARY ·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107"/>
                </a:solidFill>
                <a:latin typeface="Calibri"/>
              </a:rPr>
              <a:t>The Spear-Tip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62072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200K+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PhD scholars in India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PhD Scholars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Research Scholars (M.Phil)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92040"/>
            <a:ext cx="3474720" cy="868680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9834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Highest workflow pain, longest research cycles, immediate value capture.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331720"/>
            <a:ext cx="3749039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34840" y="2167128"/>
            <a:ext cx="2743200" cy="256032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17627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AAABB"/>
                </a:solidFill>
                <a:latin typeface="Calibri"/>
              </a:rPr>
              <a:t>SECONDARY · 6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AAABB"/>
                </a:solidFill>
                <a:latin typeface="Calibri"/>
              </a:rPr>
              <a:t>The Multipliers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862072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1.5M+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4747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professors &amp; researchers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840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University Professors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206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Industry Researchers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892040"/>
            <a:ext cx="3474720" cy="868680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9834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Drive scholar adoption + open doors to institutional contracts.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2331720"/>
            <a:ext cx="3749039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66760" y="2167128"/>
            <a:ext cx="2743200" cy="256032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217627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55566"/>
                </a:solidFill>
                <a:latin typeface="Calibri"/>
              </a:rPr>
              <a:t>FUTURE · 12-18 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55566"/>
                </a:solidFill>
                <a:latin typeface="Calibri"/>
              </a:rPr>
              <a:t>The Scale Play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62072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1,000+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4747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universities &amp; R&amp;D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40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IITs, IISc, IIMs, AIIMS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06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●  CSIR Labs, Private R&amp;D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60" y="4892040"/>
            <a:ext cx="3474720" cy="868680"/>
          </a:xfrm>
          <a:prstGeom prst="rect">
            <a:avLst/>
          </a:prstGeom>
          <a:solidFill>
            <a:srgbClr val="080C1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58200" y="49834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Institutional contracts. 10× ACV. Multi-year deals.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AAABB"/>
                </a:solidFill>
                <a:latin typeface="Calibri"/>
              </a:rPr>
              <a:t>Total Addressable Market (India only): ₹2,400+ Cr annual academic productivity spend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10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773936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682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Predictable revenue. Scalable margins.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Subscription SaaS today. Institutional licensing tomorrow. INR-priced for the Indian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3749039" cy="3794760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Free Forever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Acquisition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10 AI chats /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074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Fast Mode (Gemini Flash)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914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Web search + voice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7550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AI Detector &amp; Plagiarism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595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Mindmaps &amp; Flowcharts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331720"/>
            <a:ext cx="3749039" cy="379476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2167128"/>
            <a:ext cx="173736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1671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MOST POPULAR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46888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Plus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834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₹399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6576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For scholars &amp; researchers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Unlimited AI chats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074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Research Mode (3 models)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914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6-Format Citation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17550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Document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5595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Find Research Gaps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331720"/>
            <a:ext cx="3749039" cy="3794760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246888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34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₹999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6576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Power users &amp; professors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Everything in Plus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4074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DeepThink 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7914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Deep Research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17550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Unlimited PDF uploads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5595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Priority speed &amp; support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309360"/>
            <a:ext cx="5669280" cy="41148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6382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107"/>
                </a:solidFill>
                <a:latin typeface="Calibri"/>
              </a:rPr>
              <a:t>🏛️  FUTURE · YEAR 2  —  Institutional Licensing: ₹5L–50L / year per university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6309360"/>
            <a:ext cx="5669280" cy="41148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6382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107"/>
                </a:solidFill>
                <a:latin typeface="Calibri"/>
              </a:rPr>
              <a:t>🤝  FUTURE · YEAR 2  —  University Partnerships: Embedded into curriculum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11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97510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883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EARLY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Real users. Real 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We're live. We have users. They're using it. Here's where we are and where we're heading.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5486400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Calibri"/>
              </a:rPr>
              <a:t>● TODAY ·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9169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31927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Beta users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88036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8688" y="29169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31927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MVP 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7398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20+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14223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AI features live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70332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8688" y="37398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8688" y="414223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Professor endorsements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54880"/>
            <a:ext cx="5166360" cy="822960"/>
          </a:xfrm>
          <a:prstGeom prst="rect">
            <a:avLst/>
          </a:prstGeom>
          <a:solidFill>
            <a:srgbClr val="080C18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"Saves me 2 hours per literature review. The citation engine alone is worth it."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21808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— PhD Scholar, Anna University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377440"/>
            <a:ext cx="5577840" cy="3749039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487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107"/>
                </a:solidFill>
                <a:latin typeface="Calibri"/>
              </a:rPr>
              <a:t>● NEXT 90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8803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880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Beta users onboarded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Scaling from 10 → 50 active researchers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630168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6850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5+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36850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Video testimonials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977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Professor + PhD scholar validation videos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48970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4897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Paid users 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823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First ₹1L+ MRR from organic conversion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5239512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529437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29437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University pilots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5586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Initial institutional conversations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12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From MVP to market leader — in 18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A focused, milestone-driven plan from where we are today to a category-defining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51460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Q2–Q3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Validate &amp;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100 paid users (₹1L+ MRR)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5+ video testimonials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Product-market fit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Feature prioritisation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107"/>
                </a:solidFill>
                <a:latin typeface="Calibri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1460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Q4 2026 – Q1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8803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 &amp;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429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Mobile apps (iOS + Android)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233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First 3 university pilots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1,000 paid users (₹10L+ MRR)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212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Hindi language support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51460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Q2–Q4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8803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Institutional Play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429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10,000+ active users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0233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10+ institutional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Team scale to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5212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Series A fundraising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FOUNDER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13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276856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1854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WHO'S BUILDING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Built by someone who lived the problem.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3474720" cy="393192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2514600"/>
            <a:ext cx="1645920" cy="1645920"/>
          </a:xfrm>
          <a:prstGeom prst="rect">
            <a:avLst/>
          </a:prstGeom>
          <a:solidFill>
            <a:srgbClr val="503C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06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A0E1A"/>
                </a:solidFill>
                <a:latin typeface="Calibri"/>
              </a:rPr>
              <a:t>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Anish Krisna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9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C107"/>
                </a:solidFill>
                <a:latin typeface="Calibri"/>
              </a:rPr>
              <a:t>Founder &amp; CEO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74920"/>
            <a:ext cx="3200400" cy="18288"/>
          </a:xfrm>
          <a:prstGeom prst="rect">
            <a:avLst/>
          </a:prstGeom>
          <a:solidFill>
            <a:srgbClr val="40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EDUCATION: MS in Data Science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107"/>
                </a:solidFill>
                <a:latin typeface="Calibri"/>
              </a:rPr>
              <a:t>EXPERIENCE: 11 Years cross-functional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514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Data-driven product decisions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514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Brand, growth &amp; demand 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514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🛠️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End-to-end product 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4069080"/>
            <a:ext cx="8001000" cy="137160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41879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8056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"Build the operating system for academic work — so India's brightest minds spend their time on insight, not on busywork."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577840"/>
            <a:ext cx="8001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Founded Dynamo AI after seeing first-hand how fragmented academic tools were stealing thousands of hours from researchers across India.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14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47802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386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WHAT WE NEED FROM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Let's build India's academic operating system — together.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 have the product, the vision, and early traction. We're looking for the right partners to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Mentorship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Strategic guidance from founders who've scaled SaaS in India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6352" y="2606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32461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Incubation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3657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Workspace, infrastructure, and ecosystem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4064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2606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🏛️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32461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Academic Partnerships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3657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Warm intros to universities &amp; research institutions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2606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6" y="32461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Pilot Institutions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3657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3–5 partner institutions for institutional MVP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02368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606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32461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Strategic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8" y="3657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Go-to-market, hiring, and fundraising playbooks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49240"/>
            <a:ext cx="11430000" cy="7772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132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LET'S TALK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875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Try it live · See the product · Then decide.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4406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Demo: app.dynamoai.in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74243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Email: anish@dynamoai.in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640080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C107"/>
                </a:solidFill>
                <a:latin typeface="Calibri"/>
              </a:rPr>
              <a:t>⚡   THANK YOU   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