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FFF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731520" cy="7315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1A1A"/>
                </a:solidFill>
                <a:latin typeface="Calibri"/>
              </a:rPr>
              <a:t>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1A1A1A"/>
                </a:solidFill>
                <a:latin typeface="Calibri"/>
              </a:rPr>
              <a:t>India's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B38A00"/>
                </a:solidFill>
                <a:latin typeface="Calibri"/>
              </a:rPr>
              <a:t>Research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033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One platform for research discovery, academic writing, citations,
document analysis, and presentations.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617720"/>
            <a:ext cx="8503920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54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Calibri"/>
              </a:rPr>
              <a:t>₹399/mo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206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Starting price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2152" y="4754880"/>
            <a:ext cx="12700" cy="59436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4754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Calibri"/>
              </a:rPr>
              <a:t>3 Modes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51206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Fast · Research · DeepThink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6792" y="4754880"/>
            <a:ext cx="12700" cy="59436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754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Calibri"/>
              </a:rPr>
              <a:t>Made in 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1206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Built for Indian researchers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550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Calibri"/>
              </a:rPr>
              <a:t>CONFIDENTIAL · NOT FOR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355080"/>
            <a:ext cx="4828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B38A00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Dynamo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56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02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8580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Calibri"/>
              </a:rPr>
              <a:t>DYNAMO AI · INVESTOR PRESENTATION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B38A00"/>
                </a:solidFill>
                <a:latin typeface="Calibri"/>
              </a:rPr>
              <a:t>app.dynamoai.in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20040" cy="508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Research today is fragmented.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819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A researcher uses 5–10 different tools just to complete one project.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20240"/>
            <a:ext cx="5440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920240"/>
            <a:ext cx="38100" cy="123444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029968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Too Many Separate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304288"/>
            <a:ext cx="51114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Search engine, AI chatbot, citation tool, PDF reader, presentation software — all separate, all costly.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920240"/>
            <a:ext cx="5440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920240"/>
            <a:ext cx="38100" cy="123444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2029968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Generic AI is Not Enough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304288"/>
            <a:ext cx="51114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Most AI tools are built for general use. None are designed specifically for academic workflows.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46120"/>
            <a:ext cx="5440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246120"/>
            <a:ext cx="38100" cy="123444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355848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Citation Errors Waste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630168"/>
            <a:ext cx="51114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Creating and verifying citations manually is slow and error-prone, especially across 8+ formats.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246120"/>
            <a:ext cx="5440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246120"/>
            <a:ext cx="38100" cy="123444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355848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No End-to-End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630168"/>
            <a:ext cx="51114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Existing solutions solve only parts of the research process. No platform covers the full journey.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572000"/>
            <a:ext cx="1118311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572000"/>
            <a:ext cx="38100" cy="100584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681728"/>
            <a:ext cx="10853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Overlooked Indian Researchers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4956048"/>
            <a:ext cx="10853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Global platforms are not designed for Indian academic standards, languages, or pricing realities. India has over 1.5 million PhD scholars — a hugely underserved market.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Dynamo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56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03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8580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Calibri"/>
              </a:rPr>
              <a:t>DYNAMO AI · INVESTOR PRESENTATION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B38A00"/>
                </a:solidFill>
                <a:latin typeface="Calibri"/>
              </a:rPr>
              <a:t>app.dynamoai.in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20040" cy="508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One platform. The complete research workflow.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819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Dynamo AI replaces 5+ separate tools with a single unified workspace.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65960"/>
            <a:ext cx="1118311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0116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4231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Discover papers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0116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Analyse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24231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Read documents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6" y="20116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Write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656" y="24231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Draft academic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20116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Cite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24231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Generate citations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20116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Present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4231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Create slides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429000"/>
            <a:ext cx="35661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53872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Research-First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3813048"/>
            <a:ext cx="32369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Designed specifically for academic and research workflows, not a general chatbot.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59" y="3429000"/>
            <a:ext cx="35661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6551" y="353872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Three AI Modes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1" y="3813048"/>
            <a:ext cx="32369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Fast, Research, and DeepThink modes for different levels of task complexity.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0998" y="3429000"/>
            <a:ext cx="35661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5590" y="353872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Privacy Protected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5590" y="3813048"/>
            <a:ext cx="32369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User data, research work, and documents remain protected with strong security practices.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754880"/>
            <a:ext cx="11183112" cy="502920"/>
          </a:xfrm>
          <a:prstGeom prst="rect">
            <a:avLst/>
          </a:prstGeom>
          <a:solidFill>
            <a:srgbClr val="FF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8188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8A00"/>
                </a:solidFill>
                <a:latin typeface="Calibri"/>
              </a:rPr>
              <a:t>Replace multiple subscriptions with one platform. Starting at ₹399/month.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Dynamo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56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04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8580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Calibri"/>
              </a:rPr>
              <a:t>DYNAMO AI · INVESTOR PRESENTATION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B38A00"/>
                </a:solidFill>
                <a:latin typeface="Calibri"/>
              </a:rPr>
              <a:t>app.dynamoai.in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20040" cy="508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BUSINESS MODEL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SaaS Subscription with a Two-Sided Value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830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B"/>
                </a:solidFill>
                <a:latin typeface="Calibri"/>
              </a:rPr>
              <a:t>PLATFORM 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03120"/>
            <a:ext cx="5394960" cy="411480"/>
          </a:xfrm>
          <a:prstGeom prst="rect">
            <a:avLst/>
          </a:prstGeom>
          <a:solidFill>
            <a:srgbClr val="FFFBEA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396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38A00"/>
                </a:solidFill>
                <a:latin typeface="Calibri"/>
              </a:rPr>
              <a:t>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32257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A7E30"/>
                </a:solidFill>
                <a:latin typeface="Calibri"/>
              </a:rPr>
              <a:t>PhD Scholars · Professors · Research Assistants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14600"/>
            <a:ext cx="5394960" cy="292608"/>
          </a:xfrm>
          <a:prstGeom prst="rect">
            <a:avLst/>
          </a:prstGeom>
          <a:solidFill>
            <a:srgbClr val="F5F5F0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511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subscribe to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807208"/>
            <a:ext cx="5394960" cy="411480"/>
          </a:xfrm>
          <a:prstGeom prst="rect">
            <a:avLst/>
          </a:prstGeom>
          <a:solidFill>
            <a:srgbClr val="1A1A1A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8437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400"/>
                </a:solidFill>
                <a:latin typeface="Calibri"/>
              </a:rPr>
              <a:t>Dynamo AI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02666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80"/>
                </a:solidFill>
                <a:latin typeface="Calibri"/>
              </a:rPr>
              <a:t>AI Research Operating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18688"/>
            <a:ext cx="5394960" cy="292608"/>
          </a:xfrm>
          <a:prstGeom prst="rect">
            <a:avLst/>
          </a:prstGeom>
          <a:solidFill>
            <a:srgbClr val="F5F5F0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552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powered by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11296"/>
            <a:ext cx="5394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54787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AI 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73075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80"/>
                </a:solidFill>
                <a:latin typeface="Calibri"/>
              </a:rPr>
              <a:t>Gemini · Groq · Tavily · Razorpay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17830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B"/>
                </a:solidFill>
                <a:latin typeface="Calibri"/>
              </a:rPr>
              <a:t>MONETIZATION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10312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1579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Free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43230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Calibri"/>
              </a:rPr>
              <a:t>10 messages/day · User acquisition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212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1A1A1A"/>
                </a:solidFill>
                <a:latin typeface="Calibri"/>
              </a:rPr>
              <a:t>₹0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816352"/>
            <a:ext cx="5394960" cy="640080"/>
          </a:xfrm>
          <a:prstGeom prst="rect">
            <a:avLst/>
          </a:prstGeom>
          <a:solidFill>
            <a:srgbClr val="FFFDF5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8712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38A00"/>
                </a:solidFill>
                <a:latin typeface="Calibri"/>
              </a:rPr>
              <a:t>Plus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14553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7E30"/>
                </a:solidFill>
                <a:latin typeface="Calibri"/>
              </a:rPr>
              <a:t>100 messages/day · Core research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B38A00"/>
                </a:solidFill>
                <a:latin typeface="Calibri"/>
              </a:rPr>
              <a:t>₹399/mo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529584"/>
            <a:ext cx="5394960" cy="640080"/>
          </a:xfrm>
          <a:prstGeom prst="rect">
            <a:avLst/>
          </a:prstGeom>
          <a:solidFill>
            <a:srgbClr val="1A1A1A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5844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400"/>
                </a:solidFill>
                <a:latin typeface="Calibri"/>
              </a:rPr>
              <a:t>Pro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85876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300 messages/day · Full platform access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3639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FFFFFF"/>
                </a:solidFill>
                <a:latin typeface="Calibri"/>
              </a:rPr>
              <a:t>₹999/mo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4334256"/>
            <a:ext cx="5394960" cy="50292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3982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Scalable SaaS revenue grows with every new subscriber. Low marginal cost per additional user.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Dynamo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56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CUSTOMER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05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8580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Calibri"/>
              </a:rPr>
              <a:t>DYNAMO AI · INVESTOR PRESENTATION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B38A00"/>
                </a:solidFill>
                <a:latin typeface="Calibri"/>
              </a:rPr>
              <a:t>app.dynamoai.in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20040" cy="508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CUSTOMER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Who We 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819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India has over 1.5 million active PhD scholars and thousands of research institutions.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6596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965960"/>
            <a:ext cx="2697480" cy="381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2996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PhD Scholars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39572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Literature 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67004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Thesis writing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94436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Citation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1868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Research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4992" y="196596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4992" y="1965960"/>
            <a:ext cx="2697480" cy="381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202996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Professors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152" y="239572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Research publications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267004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Teaching materials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2152" y="294436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Academic writing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321868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Content creation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27064" y="196596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27064" y="1965960"/>
            <a:ext cx="2697480" cy="381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202996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Research Assistants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239572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Document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267004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Summarisation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294436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Workflow efficiency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321868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Report writing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89136" y="196596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89136" y="1965960"/>
            <a:ext cx="2697480" cy="381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26296" y="202996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Institutions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6296" y="239572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Department productivity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6296" y="267004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Standardised 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6296" y="294436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Cost consolidation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6296" y="321868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Bulk licensing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321808"/>
            <a:ext cx="11183112" cy="502920"/>
          </a:xfrm>
          <a:prstGeom prst="rect">
            <a:avLst/>
          </a:prstGeom>
          <a:solidFill>
            <a:srgbClr val="FF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38581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38A00"/>
                </a:solidFill>
                <a:latin typeface="Calibri"/>
              </a:rPr>
              <a:t>Core need across all segments: save time, reduce costs, and improve research quality — all in one place.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Dynamo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56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SERVICE OFFERING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06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8580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Calibri"/>
              </a:rPr>
              <a:t>DYNAMO AI · INVESTOR PRESENTATION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B38A00"/>
                </a:solidFill>
                <a:latin typeface="Calibri"/>
              </a:rPr>
              <a:t>app.dynamoai.in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20040" cy="508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SERVICE OFFERING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What Dynamo AI Offers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91640"/>
            <a:ext cx="35661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80136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Research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075688"/>
            <a:ext cx="32369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Web search, Research Mode, and DeepThink AI to find and synthesise relevant academic sources.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691640"/>
            <a:ext cx="35661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1" y="180136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Academic Writing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1" y="2075688"/>
            <a:ext cx="32369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Write a Paper tool generates full academic papers by topic, with structured sections and references.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0998" y="1691640"/>
            <a:ext cx="35661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0" y="180136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Citation Checker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0" y="2075688"/>
            <a:ext cx="32369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Verifies in-text citations and reference lists across APA, IEEE, MLA, Harvard, Vancouver, Chicago.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08960"/>
            <a:ext cx="35661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21868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AI Text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3493008"/>
            <a:ext cx="32369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In-house AI detection and plagiarism checker — no external API dependency, powered by Gemini.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3108960"/>
            <a:ext cx="35661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1" y="321868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Document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1" y="3493008"/>
            <a:ext cx="32369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Upload PDFs, DOCX, and TXT files. Dynamo AI summarises and stores them in a personal library.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0998" y="3108960"/>
            <a:ext cx="35661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5590" y="321868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Study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0" y="3493008"/>
            <a:ext cx="32369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Study guides, quiz mode, flashcards, mindmaps, flowcharts, and AI-generated image creation.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590288"/>
            <a:ext cx="1371600" cy="292608"/>
          </a:xfrm>
          <a:prstGeom prst="rect">
            <a:avLst/>
          </a:prstGeom>
          <a:solidFill>
            <a:srgbClr val="F5F5F0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6177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Fast Mode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4590288"/>
            <a:ext cx="1737360" cy="292608"/>
          </a:xfrm>
          <a:prstGeom prst="rect">
            <a:avLst/>
          </a:prstGeom>
          <a:solidFill>
            <a:srgbClr val="F5F5F0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3120" y="4617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Research Mode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86199" y="4590288"/>
            <a:ext cx="1828800" cy="292608"/>
          </a:xfrm>
          <a:prstGeom prst="rect">
            <a:avLst/>
          </a:prstGeom>
          <a:solidFill>
            <a:srgbClr val="F5F5F0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77639" y="46177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DeepThink Mode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59" y="4590288"/>
            <a:ext cx="1554480" cy="292608"/>
          </a:xfrm>
          <a:prstGeom prst="rect">
            <a:avLst/>
          </a:prstGeom>
          <a:solidFill>
            <a:srgbClr val="F5F5F0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599" y="46177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Voice + TTS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3799" y="4590288"/>
            <a:ext cx="1463040" cy="292608"/>
          </a:xfrm>
          <a:prstGeom prst="rect">
            <a:avLst/>
          </a:prstGeom>
          <a:solidFill>
            <a:srgbClr val="F5F5F0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5239" y="46177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PDF Export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3999" y="4590288"/>
            <a:ext cx="1371600" cy="292608"/>
          </a:xfrm>
          <a:prstGeom prst="rect">
            <a:avLst/>
          </a:prstGeom>
          <a:solidFill>
            <a:srgbClr val="F5F5F0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39" y="46177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AI Memory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52759" y="4590288"/>
            <a:ext cx="1828800" cy="292608"/>
          </a:xfrm>
          <a:prstGeom prst="rect">
            <a:avLst/>
          </a:prstGeom>
          <a:solidFill>
            <a:srgbClr val="F5F5F0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44199" y="46177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Multi-language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Dynamo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56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07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8580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Calibri"/>
              </a:rPr>
              <a:t>DYNAMO AI · INVESTOR PRESENTATION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B38A00"/>
                </a:solidFill>
                <a:latin typeface="Calibri"/>
              </a:rPr>
              <a:t>app.dynamoai.in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20040" cy="508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REVENUE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Subscription-Led, Scalable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B"/>
                </a:solidFill>
                <a:latin typeface="Calibri"/>
              </a:rPr>
              <a:t>SUBSCRIPTION TIERS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65960"/>
            <a:ext cx="56692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299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35000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10 messages/day · 0 images · Entry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574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1A1A1A"/>
                </a:solidFill>
                <a:latin typeface="Calibri"/>
              </a:rPr>
              <a:t>₹0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4144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Calibri"/>
              </a:rPr>
              <a:t>User acquisition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788920"/>
            <a:ext cx="5669280" cy="749808"/>
          </a:xfrm>
          <a:prstGeom prst="rect">
            <a:avLst/>
          </a:prstGeom>
          <a:solidFill>
            <a:srgbClr val="FFFDF5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8529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38A00"/>
                </a:solidFill>
                <a:latin typeface="Calibri"/>
              </a:rPr>
              <a:t>Plus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7296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7E30"/>
                </a:solidFill>
                <a:latin typeface="Calibri"/>
              </a:rPr>
              <a:t>100 messages/day · 25 images · Full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8803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B38A00"/>
                </a:solidFill>
                <a:latin typeface="Calibri"/>
              </a:rPr>
              <a:t>₹399/mo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26440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7E30"/>
                </a:solidFill>
                <a:latin typeface="Calibri"/>
              </a:rPr>
              <a:t>Core revenue driver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11880"/>
            <a:ext cx="5669280" cy="749808"/>
          </a:xfrm>
          <a:prstGeom prst="rect">
            <a:avLst/>
          </a:prstGeom>
          <a:solidFill>
            <a:srgbClr val="1A1A1A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6758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400"/>
                </a:solidFill>
                <a:latin typeface="Calibri"/>
              </a:rPr>
              <a:t>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99592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300 messages/day · 100 images · All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70332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FFFFFF"/>
                </a:solidFill>
                <a:latin typeface="Calibri"/>
              </a:rPr>
              <a:t>₹999/mo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08736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Calibri"/>
              </a:rPr>
              <a:t>High-value segment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1691640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B"/>
                </a:solidFill>
                <a:latin typeface="Calibri"/>
              </a:rPr>
              <a:t>REVENUE STREAMS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1965960"/>
            <a:ext cx="5349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2075688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Monthly Subscriptions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2350008"/>
            <a:ext cx="5020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Recurring SaaS revenue from Plus and Pro users. Predictable, compounding growth.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834640"/>
            <a:ext cx="5349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2944368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Institutional Licences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3218688"/>
            <a:ext cx="5020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Bulk access for universities, research departments, and academic institutions.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3703320"/>
            <a:ext cx="5349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9672" y="3813048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Future: API 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9672" y="4087368"/>
            <a:ext cx="5020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Developer and enterprise API access planned as platform matures.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4617720"/>
            <a:ext cx="5349240" cy="50292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Low marginal cost per new subscriber — each additional user adds revenue with minimal incremental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Dynamo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56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08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8580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Calibri"/>
              </a:rPr>
              <a:t>DYNAMO AI · INVESTOR PRESENTATION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B38A00"/>
                </a:solidFill>
                <a:latin typeface="Calibri"/>
              </a:rPr>
              <a:t>app.dynamoai.in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20040" cy="508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VALUE PROPOSITION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Why Dynamo AI?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3736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737360"/>
            <a:ext cx="38100" cy="132588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1847088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India's First Research 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121408"/>
            <a:ext cx="51114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No other platform combines research discovery, writing, citations, and document analysis into one unified workspace built for Indian researchers.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73736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737360"/>
            <a:ext cx="38100" cy="132588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847088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Research-First, Not Generic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121408"/>
            <a:ext cx="51114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Built from the ground up for academic workflows. Every feature — from DeepThink mode to citation verification — is designed specifically for researchers.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15468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154680"/>
            <a:ext cx="38100" cy="132588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264408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Affordable for Indian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3538728"/>
            <a:ext cx="51114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Full research platform access from ₹399/month — a fraction of the cost of maintaining 5+ separate subscriptions globally priced.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5468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154680"/>
            <a:ext cx="38100" cy="132588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3264408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Multi-Language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538728"/>
            <a:ext cx="51114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Supports Indian languages, making advanced research tools accessible to a wider audience beyond English-only platforms.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617720"/>
            <a:ext cx="11183112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709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Replace multiple subscriptions with one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681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5C400"/>
                </a:solidFill>
                <a:latin typeface="Calibri"/>
              </a:rPr>
              <a:t>5+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029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80"/>
                </a:solidFill>
                <a:latin typeface="Calibri"/>
              </a:rPr>
              <a:t>Tools replaced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681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5C400"/>
                </a:solidFill>
                <a:latin typeface="Calibri"/>
              </a:rPr>
              <a:t>₹399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029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80"/>
                </a:solidFill>
                <a:latin typeface="Calibri"/>
              </a:rPr>
              <a:t>Starting price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681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5C400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5029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80"/>
                </a:solidFill>
                <a:latin typeface="Calibri"/>
              </a:rPr>
              <a:t>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Dynamo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56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09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8580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Calibri"/>
              </a:rPr>
              <a:t>DYNAMO AI · INVESTOR PRESENTATION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B38A00"/>
                </a:solidFill>
                <a:latin typeface="Calibri"/>
              </a:rPr>
              <a:t>app.dynamoai.in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20040" cy="508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How We Plan to Grow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37360"/>
            <a:ext cx="356616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80136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Geographic 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17627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1. Start: Indian universities and research institutions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45059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2. Expand to South Asia and Southeast Asian markets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72491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3. Long-term: global researcher communities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737360"/>
            <a:ext cx="356616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1" y="180136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Product Enhancement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1" y="217627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+ Multi-agent AI research assistants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1" y="245059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+ Collaborative research workspaces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1" y="272491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+ Enhanced document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1" y="29992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+ Deeper regional language support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998" y="1737360"/>
            <a:ext cx="356616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5590" y="180136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Institutional Partnerships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0" y="217627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+ University-level bulk licence agreements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0" y="245059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+ Research department integrations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0" y="272491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+ Corporate R&amp;D teams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0" y="29992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  + Government research bodies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29200"/>
            <a:ext cx="11183112" cy="548640"/>
          </a:xfrm>
          <a:prstGeom prst="rect">
            <a:avLst/>
          </a:prstGeom>
          <a:solidFill>
            <a:srgbClr val="FF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0932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8A00"/>
                </a:solidFill>
                <a:latin typeface="Calibri"/>
              </a:rPr>
              <a:t>Network effect: More researchers → more institutions → more researchers. A compounding growth loop.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Dynamo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56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RISKS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10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8580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Calibri"/>
              </a:rPr>
              <a:t>DYNAMO AI · INVESTOR PRESENTATION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B38A00"/>
                </a:solidFill>
                <a:latin typeface="Calibri"/>
              </a:rPr>
              <a:t>app.dynamoai.in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20040" cy="508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RISKS AND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Known Risks and How We Address Them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819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Transparency on risks is part of responsible platform development.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65960"/>
            <a:ext cx="5440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075688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Competition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350008"/>
            <a:ext cx="51114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Global AI tools (ChatGPT, Perplexity, Claude) serve general audiences. Mitigation: deep research-specific features and Indian market pricing that global tools cannot match.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965960"/>
            <a:ext cx="5440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2075688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Data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350008"/>
            <a:ext cx="51114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Researchers share sensitive academic work. Mitigation: strong privacy practices, no training on user data, Supabase-backed secure storage with access controls.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91840"/>
            <a:ext cx="5440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401568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Quality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675888"/>
            <a:ext cx="51114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AI outputs must meet academic standards. Mitigation: multi-model verification, temperature-controlled generation, and structured prompting for consistent results.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291840"/>
            <a:ext cx="5440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3401568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Scaling Challenges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3675888"/>
            <a:ext cx="51114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Rapid user growth increases AI compute costs. Mitigation: quota-based usage tiers, fallback model routing, and usage-linked subscription revenue to balance costs.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663440"/>
            <a:ext cx="11183112" cy="50292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274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Trust and Safety: Citation verification, AI detection, and plagiarism checking reinforce academic integrity.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Dynamo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56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FUTURE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11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8580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Calibri"/>
              </a:rPr>
              <a:t>DYNAMO AI · INVESTOR PRESENTATION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B38A00"/>
                </a:solidFill>
                <a:latin typeface="Calibri"/>
              </a:rPr>
              <a:t>app.dynamoai.in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20040" cy="508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FUTURE OPPORTUNITIES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Where Dynamo AI Is Headed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3736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847088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Multi-Agent AI Research Assistants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121408"/>
            <a:ext cx="5111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Autonomous agents that can conduct end-to-end literature reviews, synthesise findings, and generate reports independently.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847088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Institutional Research 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121408"/>
            <a:ext cx="5111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Dedicated dashboards and admin tools for universities, research labs, and government departments.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035808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145536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International 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419856"/>
            <a:ext cx="5111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Localised versions for South Asia, Southeast Asia, Africa, and other emerging research markets.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035808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145536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Smarter Publishing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419856"/>
            <a:ext cx="5111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Guided journal submission workflows: formatting, compliance checking, and co-authorship management.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34256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443984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Data-Driven Platform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4718304"/>
            <a:ext cx="5111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Aggregated anonymised usage to identify research trends, improve recommendations, and personalise the experience.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334256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4443984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Monetisation Expansion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718304"/>
            <a:ext cx="5111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Annual billing discounts, API access tiers, white-label licences, and premium corporate research packages.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FFF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640080" cy="64008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alibri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Dynamo AI — India's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38A00"/>
                </a:solidFill>
                <a:latin typeface="Calibri"/>
              </a:rPr>
              <a:t>Research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One platform that replaces the fragmented research toolchain for India's
1.5 million PhD scholars, professors, and research professionals.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069080"/>
            <a:ext cx="3383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B"/>
                </a:solidFill>
                <a:latin typeface="Calibri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342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SaaS Subscription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2686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Free · Plus · Pro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4069080"/>
            <a:ext cx="3383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41148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B"/>
                </a:solidFill>
                <a:latin typeface="Calibri"/>
              </a:rPr>
              <a:t>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3342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From ₹399/mo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62686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Affordable for Indian 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4069080"/>
            <a:ext cx="3383280" cy="777240"/>
          </a:xfrm>
          <a:prstGeom prst="rect">
            <a:avLst/>
          </a:prstGeom>
          <a:solidFill>
            <a:srgbClr val="FFFBEA"/>
          </a:solidFill>
          <a:ln w="9525">
            <a:solidFill>
              <a:srgbClr val="E0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41148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A7E30"/>
                </a:solidFill>
                <a:latin typeface="Calibri"/>
              </a:rPr>
              <a:t>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3342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38A00"/>
                </a:solidFill>
                <a:latin typeface="Calibri"/>
              </a:rPr>
              <a:t>India's Best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462686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7E30"/>
                </a:solidFill>
                <a:latin typeface="Calibri"/>
              </a:rPr>
              <a:t>Research AI platform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217920"/>
            <a:ext cx="11183112" cy="1270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2636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Calibri"/>
              </a:rPr>
              <a:t>CONFIDENTIAL · NOT FOR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26364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B38A00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